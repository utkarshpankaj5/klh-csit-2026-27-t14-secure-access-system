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3.xml" ContentType="application/vnd.openxmlformats-officedocument.presentationml.slideMaster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2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D6ACC3-C9FC-4CC1-8DBE-FA63252B8CF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CA03F5-84B5-41A9-8C9C-A8BA35DAFC56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11D638-AA52-4FAE-B662-03FEB8B6DAC1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DF05E7-2785-4AB9-9988-BAC36C5AF20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13A762-3AD4-402C-BB43-DEDA85FEA34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B975DC-4C5A-4283-B6F3-648AEBBE967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1384DF-6656-45F5-8D32-3F91F854E84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24527D-7D32-414A-AA01-DA452A07BF9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EB6F05-1F40-486A-A992-7A941512B01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FF39AE-0CFF-4004-B755-8A0E02038D1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87B25B-04D7-46AB-9776-C4DDD6FA0B0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0B651C-12D5-4299-A52C-C32D6103161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C8BD97-4C9B-4F45-A203-CF7BD992347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53DA16-65F3-45ED-BB65-8F2D655D6F6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D235EB-0E35-41E9-9745-128313B5E54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5A4ABC-AD03-46A4-9E20-F4944AE83DF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AFBBFA-00F6-40BD-850C-031E5F2D352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1FA72B-9290-43FB-98CA-FCAE1BE4471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DC3E48-0CF7-487D-88DD-CDD78FDFDBD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714DA2-6584-41D9-8B63-A3D4465BB14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A00357-0C63-4E16-B1D9-BED16DD6CD4A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234C48-6866-45A2-9ADE-20A656098B1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65E3C8-07E4-4F2B-BCB2-CEFF9783B2F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32C243-27B4-4221-8491-70ADB81A61B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74C281-42DF-4708-B87F-F207975C4C1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B96AB1-6918-4999-8D12-04CDF1DAF4A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ADA53CCE-EF92-43C8-B540-C2C3113690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38AE3-D2E5-41A8-9127-0402258EF01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2.png"/><Relationship Id="rId14" Type="http://schemas.openxmlformats.org/officeDocument/2006/relationships/image" Target="../media/image3.svg"/><Relationship Id="rId15" Type="http://schemas.openxmlformats.org/officeDocument/2006/relationships/diagramData" Target="../diagrams/data1.xml"/><Relationship Id="rId16" Type="http://schemas.openxmlformats.org/officeDocument/2006/relationships/diagramLayout" Target="../diagrams/layout1.xml"/><Relationship Id="rId17" Type="http://schemas.openxmlformats.org/officeDocument/2006/relationships/diagramQuickStyle" Target="../diagrams/quickStyle1.xml"/><Relationship Id="rId18" Type="http://schemas.openxmlformats.org/officeDocument/2006/relationships/diagramColors" Target="../diagrams/colors1.xml"/><Relationship Id="rId19" Type="http://schemas.openxmlformats.org/officeDocument/2006/relationships/image" Target="../media/image1.png"/><Relationship Id="rId20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5"/>
          <p:cNvSpPr/>
          <p:nvPr/>
        </p:nvSpPr>
        <p:spPr>
          <a:xfrm>
            <a:off x="2995560" y="2868120"/>
            <a:ext cx="6199200" cy="491040"/>
          </a:xfrm>
          <a:prstGeom prst="rect">
            <a:avLst/>
          </a:prstGeom>
          <a:noFill/>
          <a:ln w="0">
            <a:noFill/>
          </a:ln>
          <a:effectLst>
            <a:glow rad="139680">
              <a:srgbClr val="FF6A1C">
                <a:alpha val="40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Date&amp; Time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le 17"/>
          <p:cNvGraphicFramePr/>
          <p:nvPr/>
        </p:nvGraphicFramePr>
        <p:xfrm>
          <a:off x="8193240" y="4898520"/>
          <a:ext cx="3701520" cy="752040"/>
        </p:xfrm>
        <a:graphic>
          <a:graphicData uri="http://schemas.openxmlformats.org/drawingml/2006/table">
            <a:tbl>
              <a:tblPr/>
              <a:tblGrid>
                <a:gridCol w="3701880"/>
              </a:tblGrid>
              <a:tr h="752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6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Times New Roman"/>
                        </a:rPr>
                        <a:t>Team Members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Name Utkarsh, Dhanush, Rithish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Roll Number: 2420090138, 2420090083, 2420030778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9" name="Group 20"/>
          <p:cNvGrpSpPr/>
          <p:nvPr/>
        </p:nvGrpSpPr>
        <p:grpSpPr>
          <a:xfrm>
            <a:off x="7981920" y="4741920"/>
            <a:ext cx="306720" cy="279000"/>
            <a:chOff x="7981920" y="4741920"/>
            <a:chExt cx="306720" cy="279000"/>
          </a:xfrm>
        </p:grpSpPr>
        <p:sp>
          <p:nvSpPr>
            <p:cNvPr id="140" name="Isosceles Triangle 21"/>
            <p:cNvSpPr/>
            <p:nvPr/>
          </p:nvSpPr>
          <p:spPr>
            <a:xfrm rot="8295000">
              <a:off x="8038800" y="4765680"/>
              <a:ext cx="159480" cy="23148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920" tIns="45000" rIns="7992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41" name="Isosceles Triangle 22"/>
            <p:cNvSpPr/>
            <p:nvPr/>
          </p:nvSpPr>
          <p:spPr>
            <a:xfrm rot="11852400">
              <a:off x="8155440" y="4793040"/>
              <a:ext cx="112680" cy="15192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520" tIns="31680" rIns="5652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aphicFrame>
        <p:nvGraphicFramePr>
          <p:cNvPr id="142" name="Table 29"/>
          <p:cNvGraphicFramePr/>
          <p:nvPr/>
        </p:nvGraphicFramePr>
        <p:xfrm>
          <a:off x="-795960" y="4773960"/>
          <a:ext cx="5901480" cy="2699640"/>
        </p:xfrm>
        <a:graphic>
          <a:graphicData uri="http://schemas.openxmlformats.org/drawingml/2006/table">
            <a:tbl>
              <a:tblPr/>
              <a:tblGrid>
                <a:gridCol w="1373400"/>
                <a:gridCol w="4528440"/>
              </a:tblGrid>
              <a:tr h="133200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Times New Roman"/>
                        </a:rPr>
                        <a:t>Under the Guidance of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Dr.Venkateshwari Ketineni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Assistant Professor,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Department of </a:t>
                      </a: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Computer Science and Engineering,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KLH CSE Bowrampet Campus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33200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3" name="Group 30"/>
          <p:cNvGrpSpPr/>
          <p:nvPr/>
        </p:nvGrpSpPr>
        <p:grpSpPr>
          <a:xfrm>
            <a:off x="386280" y="4538880"/>
            <a:ext cx="306360" cy="279000"/>
            <a:chOff x="386280" y="4538880"/>
            <a:chExt cx="306360" cy="279000"/>
          </a:xfrm>
        </p:grpSpPr>
        <p:sp>
          <p:nvSpPr>
            <p:cNvPr id="144" name="Isosceles Triangle 31"/>
            <p:cNvSpPr/>
            <p:nvPr/>
          </p:nvSpPr>
          <p:spPr>
            <a:xfrm rot="8295000">
              <a:off x="443160" y="4562640"/>
              <a:ext cx="159480" cy="2314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920" tIns="45000" rIns="7992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45" name="Isosceles Triangle 32"/>
            <p:cNvSpPr/>
            <p:nvPr/>
          </p:nvSpPr>
          <p:spPr>
            <a:xfrm rot="11852400">
              <a:off x="559440" y="4590000"/>
              <a:ext cx="112680" cy="15192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520" tIns="31680" rIns="5652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Date:25/08/2026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SOA Project Review-1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Rectangle: Rounded Corners 3"/>
          <p:cNvSpPr/>
          <p:nvPr/>
        </p:nvSpPr>
        <p:spPr>
          <a:xfrm>
            <a:off x="638280" y="769320"/>
            <a:ext cx="10914120" cy="98424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6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13"/>
          <p:cNvSpPr/>
          <p:nvPr/>
        </p:nvSpPr>
        <p:spPr>
          <a:xfrm>
            <a:off x="738360" y="810720"/>
            <a:ext cx="10714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28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Secure Device Registration And Intelligent Access Control System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738360" y="2246760"/>
            <a:ext cx="1071432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SOA Project Review-1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5007813-5150-4436-A719-2D4BDC61DA1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IN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C51841-0F77-495F-93BB-88228523875A}" type="slidenum">
              <a: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3020760" y="173520"/>
            <a:ext cx="5852880" cy="64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3600" b="1" u="none" strike="noStrike">
                <a:solidFill>
                  <a:srgbClr val="4472C4"/>
                </a:solidFill>
                <a:effectLst/>
                <a:uFillTx/>
                <a:latin typeface="Times New Roman"/>
                <a:ea typeface="Cambria"/>
              </a:rPr>
              <a:t>Outline of Project Work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Group 7"/>
          <p:cNvGrpSpPr/>
          <p:nvPr/>
        </p:nvGrpSpPr>
        <p:grpSpPr>
          <a:xfrm>
            <a:off x="2001240" y="1378080"/>
            <a:ext cx="6783120" cy="4437720"/>
            <a:chOff x="2001240" y="1378080"/>
            <a:chExt cx="6783120" cy="4437720"/>
          </a:xfrm>
        </p:grpSpPr>
        <p:sp>
          <p:nvSpPr>
            <p:cNvPr id="157" name="TextBox 15"/>
            <p:cNvSpPr/>
            <p:nvPr/>
          </p:nvSpPr>
          <p:spPr>
            <a:xfrm>
              <a:off x="2747160" y="2978640"/>
              <a:ext cx="4266000" cy="9590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Challenges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17"/>
            <p:cNvSpPr/>
            <p:nvPr/>
          </p:nvSpPr>
          <p:spPr>
            <a:xfrm>
              <a:off x="2994480" y="3474720"/>
              <a:ext cx="4373280" cy="872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Research Objectives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tabLst>
                  <a:tab pos="444600" algn="l"/>
                </a:tabLst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19"/>
            <p:cNvSpPr/>
            <p:nvPr/>
          </p:nvSpPr>
          <p:spPr>
            <a:xfrm>
              <a:off x="3211560" y="4054320"/>
              <a:ext cx="4528080" cy="936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Conclusion &amp; Future Work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21"/>
            <p:cNvSpPr/>
            <p:nvPr/>
          </p:nvSpPr>
          <p:spPr>
            <a:xfrm>
              <a:off x="3497760" y="4601520"/>
              <a:ext cx="4773240" cy="918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References</a:t>
              </a:r>
              <a:br>
                <a:rPr sz="1800"/>
              </a:b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 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Box 23"/>
            <p:cNvSpPr/>
            <p:nvPr/>
          </p:nvSpPr>
          <p:spPr>
            <a:xfrm>
              <a:off x="3894120" y="5204520"/>
              <a:ext cx="4890240" cy="611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Publications Details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2" name="Graphic 6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 flipH="1" rot="21415800">
              <a:off x="8301240" y="472392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3" name="Content Placeholder 11"/>
            <p:cNvSpPr/>
            <p:nvPr/>
          </p:nvSpPr>
          <p:spPr>
            <a:xfrm>
              <a:off x="2001240" y="1378080"/>
              <a:ext cx="3546720" cy="7477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Focus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444600" algn="l"/>
                </a:tabLst>
              </a:pPr>
              <a:endParaRPr lang="en-IN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Content Placeholder 11"/>
            <p:cNvSpPr/>
            <p:nvPr/>
          </p:nvSpPr>
          <p:spPr>
            <a:xfrm>
              <a:off x="2281680" y="1939320"/>
              <a:ext cx="3884760" cy="664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Introduction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444600" algn="l"/>
                </a:tabLst>
              </a:pPr>
              <a:endParaRPr lang="en-IN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5" name="Graphic 35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 flipH="1" rot="21415800">
              <a:off x="7755480" y="408024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6" name="Graphic 36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 flipH="1" rot="21415800">
              <a:off x="7301880" y="353484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7" name="Graphic 37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 flipH="1" rot="21415800">
              <a:off x="6935400" y="292176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Graphic 38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 flipH="1" rot="21415800">
              <a:off x="6514920" y="248832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Graphic 39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 flipH="1" rot="21415800">
              <a:off x="6112080" y="197388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0" name="Graphic 40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 flipH="1" rot="21415800">
              <a:off x="5698080" y="1442520"/>
              <a:ext cx="454320" cy="53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TextBox 13"/>
            <p:cNvSpPr/>
            <p:nvPr/>
          </p:nvSpPr>
          <p:spPr>
            <a:xfrm>
              <a:off x="2562120" y="2494800"/>
              <a:ext cx="4002840" cy="5054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4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Literature Survey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72" name="Diagram1"/>
          <p:cNvGraphicFramePr/>
          <p:nvPr>
            <p:extLst>
              <p:ext uri="{D42A27DB-BD31-4B8C-83A1-F6EECF244321}">
                <p14:modId xmlns:p14="http://schemas.microsoft.com/office/powerpoint/2010/main" val="3496375856"/>
              </p:ext>
            </p:extLst>
          </p:nvPr>
        </p:nvGraphicFramePr>
        <p:xfrm>
          <a:off x="41400" y="115560"/>
          <a:ext cx="1473120" cy="94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173" name="Picture 9"/>
          <p:cNvPicPr/>
          <p:nvPr/>
        </p:nvPicPr>
        <p:blipFill>
          <a:blip r:embed="rId19"/>
          <a:stretch/>
        </p:blipFill>
        <p:spPr>
          <a:xfrm>
            <a:off x="10249560" y="0"/>
            <a:ext cx="1899720" cy="62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4"/>
          <p:cNvSpPr/>
          <p:nvPr/>
        </p:nvSpPr>
        <p:spPr>
          <a:xfrm>
            <a:off x="3992040" y="482400"/>
            <a:ext cx="60944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Problem Statement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/>
          <p:nvPr/>
        </p:nvSpPr>
        <p:spPr>
          <a:xfrm>
            <a:off x="1440000" y="1800000"/>
            <a:ext cx="935892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access-control systems primarily rely on </a:t>
            </a:r>
            <a:r>
              <a:rPr lang="en-IN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usernames, passwords, and predefined permissions</a:t>
            </a: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However, valid credentials do not necessarily indicate that the requesting device is trustworthy.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legitimate account may be accessed from: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unknown or unregistered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compromised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revoked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device exhibiting suspicious behavior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Existing access mechanisms may therefore fail to consider the trustworthiness of the device and the context of the access request.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4"/>
          <p:cNvSpPr/>
          <p:nvPr/>
        </p:nvSpPr>
        <p:spPr>
          <a:xfrm>
            <a:off x="3048120" y="469080"/>
            <a:ext cx="60944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Objectives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1980000" y="1555560"/>
            <a:ext cx="809892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 a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secure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mechanism for device registration and management.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 and verify a unique device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fingerprint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during access requests.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Authenticate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users before granting access to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protected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resources.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 a dynamic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risk-scoring 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mechanism based on multiple contextual factors.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access behavior and potential security threats.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policy-based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allow/deny access decisions.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Maintain centralized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 logs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security events.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administrators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with a security monitoring dashboard.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the system using SOA and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independent microservices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communicating through APIs.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Content Placeholder 3"/>
          <p:cNvGraphicFramePr/>
          <p:nvPr/>
        </p:nvGraphicFramePr>
        <p:xfrm>
          <a:off x="50400" y="630360"/>
          <a:ext cx="11642040" cy="5109120"/>
        </p:xfrm>
        <a:graphic>
          <a:graphicData uri="http://schemas.openxmlformats.org/drawingml/2006/table">
            <a:tbl>
              <a:tblPr/>
              <a:tblGrid>
                <a:gridCol w="1089000"/>
                <a:gridCol w="2275200"/>
                <a:gridCol w="2476080"/>
                <a:gridCol w="2936520"/>
                <a:gridCol w="2865600"/>
              </a:tblGrid>
              <a:tr h="387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156082"/>
                          </a:solidFill>
                          <a:effectLst/>
                          <a:uFillTx/>
                          <a:latin typeface="Times New Roman"/>
                        </a:rPr>
                        <a:t>Authors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56082"/>
                          </a:solidFill>
                          <a:effectLst/>
                          <a:uFillTx/>
                          <a:latin typeface="Times New Roman"/>
                        </a:rPr>
                        <a:t>Title of the Paper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156082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156082"/>
                          </a:solidFill>
                          <a:effectLst/>
                          <a:uFillTx/>
                          <a:latin typeface="Times New Roman"/>
                        </a:rPr>
                        <a:t>Inferences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156082"/>
                          </a:solidFill>
                          <a:effectLst/>
                          <a:uFillTx/>
                          <a:latin typeface="Times New Roman"/>
                        </a:rPr>
                        <a:t>Limitation/Future work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01312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Kumar &amp; Paul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Device Fingerprinting for CPS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Dynamic Risk-Based Access Control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just" defTabSz="9144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Studied different device features and fingerprinting techniques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just" defTabSz="914400"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Used changing risk and trust levels to make access decisions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just" defTabSz="9144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Device fingerprinting can help identify trusted devices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just" defTabSz="914400"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Access decisions can be improved by considering current risk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defTabSz="9144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Choosing stable device features can be difficult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defTabSz="914400"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Times New Roman"/>
                        </a:rPr>
                        <a:t>Risk factors need to be carefully designed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</a:tr>
              <a:tr h="135432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Rose et al. / NIST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Zero Trust Architecture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Verifies users and devices instead of automatically trusting them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Users and devices should not be trusted automatically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Implementation can become complex in large systems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1354320">
                <a:tc>
                  <a:txBody>
                    <a:bodyPr anchor="t">
                      <a:noAutofit/>
                    </a:bodyPr>
                    <a:p>
                      <a:r>
                        <a:rPr lang="en-IN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en-IN" sz="14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IoT Device Fingerprinting Review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Studied different device fingerprinting approaches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Fingerprinting is useful for identifying IoT devices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Scalability and practical implementation are still challenges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1" name="TextBox 3"/>
          <p:cNvSpPr/>
          <p:nvPr/>
        </p:nvSpPr>
        <p:spPr>
          <a:xfrm>
            <a:off x="4560480" y="136440"/>
            <a:ext cx="3070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2800" b="1" u="none" strike="noStrike">
                <a:solidFill>
                  <a:srgbClr val="0064C8"/>
                </a:solidFill>
                <a:effectLst/>
                <a:uFillTx/>
                <a:latin typeface="Times New Roman"/>
                <a:ea typeface="Cambria"/>
              </a:rPr>
              <a:t>Literature Survey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84" name="Picture 4"/>
          <p:cNvPicPr/>
          <p:nvPr/>
        </p:nvPicPr>
        <p:blipFill>
          <a:blip r:embed="rId1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A28EE8E0-3C6D-483C-B78D-C87DA0D44F1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2"/>
          <p:cNvSpPr/>
          <p:nvPr/>
        </p:nvSpPr>
        <p:spPr>
          <a:xfrm>
            <a:off x="3048120" y="600120"/>
            <a:ext cx="6094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Problem Gap Identification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7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1080000" y="1980000"/>
            <a:ext cx="10438920" cy="25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1 — Device + User Context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authentication primarily verifies the user, while device-aware approaches may focus mainly on identifying the device.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2 — Static vs Dynamic Decisions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access-control systems rely on predefined permissions rather than continuously evaluating contextual risk.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3 — Limited Integration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fingerprinting, authentication, risk evaluation and suspicious-activity detection are not always integrated into one access-decision pipeline.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4 — Centralized Monitoring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events from different components may not be available through a unified administrative dashboard.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1893240" y="567360"/>
            <a:ext cx="8404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Innovation, Creativity, and Novelty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5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900000" y="1620000"/>
            <a:ext cx="10438920" cy="40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Innovation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device fingerprinting, user authentication, and dynamic risk scoring for smarter access decisions.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Integrates suspicious-activity detection with real-time security monitoring.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Creativity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 multiple contextual factors to dynamically evaluate the trust level of every access request.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a centralized dashboard for monitoring devices, risks, alerts, and access events.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Novelty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Introduces an integrated device-aware and risk-adaptive access-control framework using SOA/microservices.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device trust, user identity, behavioral risk, and resource sensitivity into a unified access decision.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6"/>
          <p:cNvSpPr/>
          <p:nvPr/>
        </p:nvSpPr>
        <p:spPr>
          <a:xfrm>
            <a:off x="2615400" y="551160"/>
            <a:ext cx="7232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Feasibility and Project Plan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1381320" y="1743840"/>
            <a:ext cx="10721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Picture 3"/>
          <p:cNvPicPr/>
          <p:nvPr/>
        </p:nvPicPr>
        <p:blipFill>
          <a:blip r:embed="rId1"/>
          <a:stretch/>
        </p:blipFill>
        <p:spPr>
          <a:xfrm>
            <a:off x="10249560" y="0"/>
            <a:ext cx="194112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1260000" y="1620000"/>
            <a:ext cx="863892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 1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Requirements + Literature Survey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 2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Architecture + Database + API Design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3–4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Core Microservices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4–5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Risk Scoring + Security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5–6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Dashboard + Integration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6–7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Testing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7–8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Documentation + Final Presentation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LibreOffice/26.2.5.2$Linux_X86_64 LibreOffice_project/620$Build-2</Application>
  <AppVersion>15.0000</AppVersion>
  <Words>204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2026-08-08T06:33:56Z</dcterms:created>
  <dc:creator>srikanth ch</dc:creator>
  <dc:description/>
  <dc:language>en-IN</dc:language>
  <cp:lastModifiedBy/>
  <dcterms:modified xsi:type="dcterms:W3CDTF">2026-08-27T09:03:47Z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