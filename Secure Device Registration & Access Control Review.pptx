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8288000" cy="10287000"/>
  <p:notesSz cx="7559675" cy="10691813"/>
  <p:embeddedFontLst>
    <p:embeddedFont>
      <p:font typeface="Nunito Bold"/>
      <p:bold r:id="rId13"/>
    </p:embeddedFont>
    <p:embeddedFont>
      <p:font typeface="Noto Sans"/>
      <p:regular r:id="rId14"/>
      <p:bold r:id="rId15"/>
      <p:italic r:id="rId16"/>
      <p:boldItalic r:id="rId17"/>
    </p:embeddedFont>
    <p:embeddedFont>
      <p:font typeface="Agrandir Wide Bold"/>
      <p:bold r:id="rId18"/>
    </p:embeddedFont>
    <p:embeddedFont>
      <p:font typeface="Nunito"/>
      <p:regular r:id="rId19"/>
    </p:embeddedFont>
    <p:embeddedFont>
      <p:font typeface="Noto Sans Devanagari"/>
      <p:regular r:id="rId20"/>
      <p:bold r:id="rId21"/>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font" Target="fonts/Font_1_Nunito_Bold_Bold.fntdata"/><Relationship Id="rId14" Type="http://schemas.openxmlformats.org/officeDocument/2006/relationships/font" Target="fonts/Font_2_Noto_Sans_Regular.fntdata"/><Relationship Id="rId15" Type="http://schemas.openxmlformats.org/officeDocument/2006/relationships/font" Target="fonts/Font_3_Noto_Sans_Bold.fntdata"/><Relationship Id="rId16" Type="http://schemas.openxmlformats.org/officeDocument/2006/relationships/font" Target="fonts/Font_4_Noto_Sans_Italic.fntdata"/><Relationship Id="rId17" Type="http://schemas.openxmlformats.org/officeDocument/2006/relationships/font" Target="fonts/Font_5_Noto_Sans_BoldItalic.fntdata"/><Relationship Id="rId18" Type="http://schemas.openxmlformats.org/officeDocument/2006/relationships/font" Target="fonts/Font_6_Agrandir_Wide_Bold_Bold.fntdata"/><Relationship Id="rId19" Type="http://schemas.openxmlformats.org/officeDocument/2006/relationships/font" Target="fonts/Font_7_Nunito_Regular.fntdata"/><Relationship Id="rId20" Type="http://schemas.openxmlformats.org/officeDocument/2006/relationships/font" Target="fonts/Font_8_Noto_Sans_Devanagari_Regular.fntdata"/><Relationship Id="rId21" Type="http://schemas.openxmlformats.org/officeDocument/2006/relationships/font" Target="fonts/Font_9_Noto_Sans_Devanagari_Bold.fntdata"/><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68E1E67-CA61-45AB-AEE4-63044753434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E7ADED7-9B8D-4311-81ED-B28A6C8FC42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446A646-A39E-434D-B222-AB5C7AE3FF6E}"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1AEFDBF-0BA9-43CE-AB2B-6A814233210D}"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3B56DD4-69D1-4B38-803E-3EC66C4DCEE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D734078-50A1-42DB-8CEA-62BB68C562F7}"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8EAC19D-4E45-4EA2-B4CA-9CF1392CADF5}"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CF988EA-763A-486E-AA86-592327F52098}"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8AA8111-D933-41A6-B99E-652CAA9F820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47"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AA7CD28-6620-4A2B-B1C5-115F1BB290B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571B521-996B-40FC-A05E-DEF5E5200178}"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61" name="Group 2"/>
          <p:cNvGrpSpPr/>
          <p:nvPr/>
        </p:nvGrpSpPr>
        <p:grpSpPr>
          <a:xfrm>
            <a:off x="17259480" y="-361800"/>
            <a:ext cx="3085920" cy="10648440"/>
            <a:chOff x="17259480" y="-361800"/>
            <a:chExt cx="3085920" cy="10648440"/>
          </a:xfrm>
        </p:grpSpPr>
        <p:sp>
          <p:nvSpPr>
            <p:cNvPr id="62"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3"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64" name="TextBox 5"/>
          <p:cNvSpPr/>
          <p:nvPr/>
        </p:nvSpPr>
        <p:spPr>
          <a:xfrm>
            <a:off x="1028880" y="2990880"/>
            <a:ext cx="10208520" cy="2845440"/>
          </a:xfrm>
          <a:prstGeom prst="rect">
            <a:avLst/>
          </a:prstGeom>
          <a:noFill/>
          <a:ln w="0">
            <a:noFill/>
          </a:ln>
        </p:spPr>
        <p:style>
          <a:lnRef idx="0"/>
          <a:fillRef idx="0"/>
          <a:effectRef idx="0"/>
          <a:fontRef idx="minor"/>
        </p:style>
        <p:txBody>
          <a:bodyPr lIns="0" tIns="0" rIns="0" bIns="0" anchor="t">
            <a:spAutoFit/>
          </a:bodyPr>
          <a:p>
            <a:pPr defTabSz="914400">
              <a:lnSpc>
                <a:spcPts val="5352"/>
              </a:lnSpc>
              <a:tabLst>
                <a:tab pos="0" algn="l"/>
              </a:tabLst>
            </a:pPr>
            <a:r>
              <a:rPr lang="en-US" sz="4690" b="1" u="none" strike="noStrike">
                <a:solidFill>
                  <a:srgbClr val="303870"/>
                </a:solidFill>
                <a:effectLst/>
                <a:uFillTx/>
                <a:latin typeface="Agrandir Wide Bold"/>
                <a:ea typeface="Agrandir Wide Bold"/>
              </a:rPr>
              <a:t>SECURE DEVICE REGISTRATION &amp; INTELLIGENT ACCESS CONTROL SYSTEM</a:t>
            </a:r>
            <a:endParaRPr lang="en-IN" sz="4690" b="0" u="none" strike="noStrike">
              <a:solidFill>
                <a:srgbClr val="000000"/>
              </a:solidFill>
              <a:effectLst/>
              <a:uFillTx/>
              <a:latin typeface="Arial"/>
            </a:endParaRPr>
          </a:p>
        </p:txBody>
      </p:sp>
      <p:grpSp>
        <p:nvGrpSpPr>
          <p:cNvPr id="65" name="Group 6"/>
          <p:cNvGrpSpPr/>
          <p:nvPr/>
        </p:nvGrpSpPr>
        <p:grpSpPr>
          <a:xfrm>
            <a:off x="1028880" y="5991480"/>
            <a:ext cx="7264440" cy="1199520"/>
            <a:chOff x="1028880" y="5991480"/>
            <a:chExt cx="7264440" cy="1199520"/>
          </a:xfrm>
        </p:grpSpPr>
        <p:sp>
          <p:nvSpPr>
            <p:cNvPr id="66" name="Freeform 7"/>
            <p:cNvSpPr/>
            <p:nvPr/>
          </p:nvSpPr>
          <p:spPr>
            <a:xfrm>
              <a:off x="1028880" y="6352920"/>
              <a:ext cx="7264440" cy="837720"/>
            </a:xfrm>
            <a:custGeom>
              <a:avLst/>
              <a:gdLst>
                <a:gd name="textAreaLeft" fmla="*/ 0 w 7264440"/>
                <a:gd name="textAreaRight" fmla="*/ 7264800 w 7264440"/>
                <a:gd name="textAreaTop" fmla="*/ 0 h 837720"/>
                <a:gd name="textAreaBottom" fmla="*/ 838080 h 837720"/>
              </a:gdLst>
              <a:ahLst/>
              <a:cxnLst/>
              <a:rect l="textAreaLeft" t="textAreaTop" r="textAreaRight" b="textAreaBottom"/>
              <a:pathLst>
                <a:path w="1913388" h="220747">
                  <a:moveTo>
                    <a:pt x="106566" y="0"/>
                  </a:moveTo>
                  <a:lnTo>
                    <a:pt x="1806822" y="0"/>
                  </a:lnTo>
                  <a:cubicBezTo>
                    <a:pt x="1835085" y="0"/>
                    <a:pt x="1862190" y="11227"/>
                    <a:pt x="1882175" y="31213"/>
                  </a:cubicBezTo>
                  <a:cubicBezTo>
                    <a:pt x="1902160" y="51198"/>
                    <a:pt x="1913388" y="78303"/>
                    <a:pt x="1913388" y="106566"/>
                  </a:cubicBezTo>
                  <a:lnTo>
                    <a:pt x="1913388" y="114181"/>
                  </a:lnTo>
                  <a:cubicBezTo>
                    <a:pt x="1913388" y="173036"/>
                    <a:pt x="1865677" y="220747"/>
                    <a:pt x="1806822" y="220747"/>
                  </a:cubicBezTo>
                  <a:lnTo>
                    <a:pt x="106566" y="220747"/>
                  </a:lnTo>
                  <a:cubicBezTo>
                    <a:pt x="47711" y="220747"/>
                    <a:pt x="0" y="173036"/>
                    <a:pt x="0" y="114181"/>
                  </a:cubicBezTo>
                  <a:lnTo>
                    <a:pt x="0" y="106566"/>
                  </a:lnTo>
                  <a:cubicBezTo>
                    <a:pt x="0" y="47711"/>
                    <a:pt x="47711" y="0"/>
                    <a:pt x="106566" y="0"/>
                  </a:cubicBezTo>
                  <a:close/>
                </a:path>
              </a:pathLst>
            </a:custGeom>
            <a:noFill/>
            <a:ln cap="rnd" w="38100">
              <a:solidFill>
                <a:srgbClr val="30387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7" name="TextBox 8"/>
            <p:cNvSpPr/>
            <p:nvPr/>
          </p:nvSpPr>
          <p:spPr>
            <a:xfrm>
              <a:off x="1028880" y="5991480"/>
              <a:ext cx="7264440" cy="119952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68" name="TextBox 9"/>
          <p:cNvSpPr/>
          <p:nvPr/>
        </p:nvSpPr>
        <p:spPr>
          <a:xfrm>
            <a:off x="1364040" y="6517080"/>
            <a:ext cx="6594120" cy="212760"/>
          </a:xfrm>
          <a:prstGeom prst="rect">
            <a:avLst/>
          </a:prstGeom>
          <a:noFill/>
          <a:ln w="0">
            <a:noFill/>
          </a:ln>
        </p:spPr>
        <p:style>
          <a:lnRef idx="0"/>
          <a:fillRef idx="0"/>
          <a:effectRef idx="0"/>
          <a:fontRef idx="minor"/>
        </p:style>
        <p:txBody>
          <a:bodyPr lIns="0" tIns="0" rIns="0" bIns="0" anchor="t">
            <a:spAutoFit/>
          </a:bodyPr>
          <a:p>
            <a:pPr algn="ctr" defTabSz="914400">
              <a:lnSpc>
                <a:spcPts val="1678"/>
              </a:lnSpc>
              <a:tabLst>
                <a:tab pos="0" algn="l"/>
              </a:tabLst>
            </a:pPr>
            <a:r>
              <a:rPr lang="en-US" sz="1200" b="0" u="none" strike="noStrike">
                <a:solidFill>
                  <a:srgbClr val="303870"/>
                </a:solidFill>
                <a:effectLst/>
                <a:uFillTx/>
                <a:latin typeface="Nunito"/>
                <a:ea typeface="Nunito"/>
              </a:rPr>
              <a:t>Review-2 </a:t>
            </a:r>
            <a:endParaRPr lang="en-IN" sz="1200" b="0" u="none" strike="noStrike">
              <a:solidFill>
                <a:srgbClr val="000000"/>
              </a:solidFill>
              <a:effectLst/>
              <a:uFillTx/>
              <a:latin typeface="Arial"/>
            </a:endParaRPr>
          </a:p>
        </p:txBody>
      </p:sp>
      <p:sp>
        <p:nvSpPr>
          <p:cNvPr id="69" name="TextBox 10"/>
          <p:cNvSpPr/>
          <p:nvPr/>
        </p:nvSpPr>
        <p:spPr>
          <a:xfrm>
            <a:off x="1028880" y="1019160"/>
            <a:ext cx="2948040" cy="816840"/>
          </a:xfrm>
          <a:prstGeom prst="rect">
            <a:avLst/>
          </a:prstGeom>
          <a:noFill/>
          <a:ln w="0">
            <a:noFill/>
          </a:ln>
        </p:spPr>
        <p:style>
          <a:lnRef idx="0"/>
          <a:fillRef idx="0"/>
          <a:effectRef idx="0"/>
          <a:fontRef idx="minor"/>
        </p:style>
        <p:txBody>
          <a:bodyPr lIns="0" tIns="0" rIns="0" bIns="0" anchor="t">
            <a:spAutoFit/>
          </a:bodyPr>
          <a:p>
            <a:pPr defTabSz="914400">
              <a:lnSpc>
                <a:spcPts val="1684"/>
              </a:lnSpc>
              <a:tabLst>
                <a:tab pos="0" algn="l"/>
              </a:tabLst>
            </a:pPr>
            <a:r>
              <a:rPr lang="en-US" sz="1200" b="0" u="none" strike="noStrike">
                <a:solidFill>
                  <a:srgbClr val="303870"/>
                </a:solidFill>
                <a:effectLst/>
                <a:uFillTx/>
                <a:latin typeface="Nunito"/>
                <a:ea typeface="Nunito"/>
              </a:rPr>
              <a:t>Team Members:</a:t>
            </a:r>
            <a:endParaRPr lang="en-IN" sz="1200" b="0" u="none" strike="noStrike">
              <a:solidFill>
                <a:srgbClr val="000000"/>
              </a:solidFill>
              <a:effectLst/>
              <a:uFillTx/>
              <a:latin typeface="Arial"/>
            </a:endParaRPr>
          </a:p>
          <a:p>
            <a:pPr defTabSz="914400">
              <a:lnSpc>
                <a:spcPts val="1684"/>
              </a:lnSpc>
              <a:tabLst>
                <a:tab pos="0" algn="l"/>
              </a:tabLst>
            </a:pPr>
            <a:r>
              <a:rPr lang="en-US" sz="1200" b="0" u="none" strike="noStrike">
                <a:solidFill>
                  <a:srgbClr val="303870"/>
                </a:solidFill>
                <a:effectLst/>
                <a:uFillTx/>
                <a:latin typeface="Nunito"/>
                <a:ea typeface="Nunito"/>
              </a:rPr>
              <a:t>UTKARSH PANKAJ - 2420090138</a:t>
            </a:r>
            <a:endParaRPr lang="en-IN" sz="1200" b="0" u="none" strike="noStrike">
              <a:solidFill>
                <a:srgbClr val="000000"/>
              </a:solidFill>
              <a:effectLst/>
              <a:uFillTx/>
              <a:latin typeface="Arial"/>
            </a:endParaRPr>
          </a:p>
          <a:p>
            <a:pPr defTabSz="914400">
              <a:lnSpc>
                <a:spcPts val="1684"/>
              </a:lnSpc>
              <a:tabLst>
                <a:tab pos="0" algn="l"/>
              </a:tabLst>
            </a:pPr>
            <a:r>
              <a:rPr lang="en-US" sz="1200" b="0" u="none" strike="noStrike">
                <a:solidFill>
                  <a:srgbClr val="303870"/>
                </a:solidFill>
                <a:effectLst/>
                <a:uFillTx/>
                <a:latin typeface="Nunito"/>
                <a:ea typeface="Nunito"/>
              </a:rPr>
              <a:t>SURA DHANUSH - 2420090083</a:t>
            </a:r>
            <a:endParaRPr lang="en-IN" sz="1200" b="0" u="none" strike="noStrike">
              <a:solidFill>
                <a:srgbClr val="000000"/>
              </a:solidFill>
              <a:effectLst/>
              <a:uFillTx/>
              <a:latin typeface="Arial"/>
            </a:endParaRPr>
          </a:p>
          <a:p>
            <a:pPr defTabSz="914400">
              <a:lnSpc>
                <a:spcPts val="1684"/>
              </a:lnSpc>
              <a:tabLst>
                <a:tab pos="0" algn="l"/>
              </a:tabLst>
            </a:pPr>
            <a:r>
              <a:rPr lang="en-US" sz="1200" b="0" u="none" strike="noStrike">
                <a:solidFill>
                  <a:srgbClr val="303870"/>
                </a:solidFill>
                <a:effectLst/>
                <a:uFillTx/>
                <a:latin typeface="Nunito"/>
                <a:ea typeface="Nunito"/>
              </a:rPr>
              <a:t>RITHISH RAO - 2420030778</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70" name="Group 2"/>
          <p:cNvGrpSpPr/>
          <p:nvPr/>
        </p:nvGrpSpPr>
        <p:grpSpPr>
          <a:xfrm>
            <a:off x="17259480" y="-361800"/>
            <a:ext cx="3085920" cy="10648440"/>
            <a:chOff x="17259480" y="-361800"/>
            <a:chExt cx="3085920" cy="10648440"/>
          </a:xfrm>
        </p:grpSpPr>
        <p:sp>
          <p:nvSpPr>
            <p:cNvPr id="71"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2"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73" name="AutoShape 5"/>
          <p:cNvSpPr/>
          <p:nvPr/>
        </p:nvSpPr>
        <p:spPr>
          <a:xfrm flipV="1">
            <a:off x="7970400" y="3630600"/>
            <a:ext cx="360" cy="4941720"/>
          </a:xfrm>
          <a:prstGeom prst="line">
            <a:avLst/>
          </a:prstGeom>
          <a:ln w="38100">
            <a:solidFill>
              <a:srgbClr val="303870"/>
            </a:solidFill>
            <a:round/>
          </a:ln>
        </p:spPr>
        <p:style>
          <a:lnRef idx="0"/>
          <a:fillRef idx="0"/>
          <a:effectRef idx="0"/>
          <a:fontRef idx="minor"/>
        </p:style>
        <p:txBody>
          <a:bodyPr lIns="90000" tIns="45000" rIns="90000" bIns="45000" anchor="t" anchorCtr="1">
            <a:noAutofit/>
          </a:bodyPr>
          <a:p>
            <a:endParaRPr lang="en-IN" sz="1800" b="0" u="none" strike="noStrike">
              <a:solidFill>
                <a:srgbClr val="000000"/>
              </a:solidFill>
              <a:effectLst/>
              <a:uFillTx/>
              <a:latin typeface="Arial"/>
            </a:endParaRPr>
          </a:p>
        </p:txBody>
      </p:sp>
      <p:grpSp>
        <p:nvGrpSpPr>
          <p:cNvPr id="74" name="Group 6"/>
          <p:cNvGrpSpPr/>
          <p:nvPr/>
        </p:nvGrpSpPr>
        <p:grpSpPr>
          <a:xfrm>
            <a:off x="7848000" y="3502440"/>
            <a:ext cx="244440" cy="250200"/>
            <a:chOff x="7848000" y="3502440"/>
            <a:chExt cx="244440" cy="250200"/>
          </a:xfrm>
        </p:grpSpPr>
        <p:sp>
          <p:nvSpPr>
            <p:cNvPr id="75" name="Freeform 7"/>
            <p:cNvSpPr/>
            <p:nvPr/>
          </p:nvSpPr>
          <p:spPr>
            <a:xfrm>
              <a:off x="7848000" y="350820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6" name="TextBox 8"/>
            <p:cNvSpPr/>
            <p:nvPr/>
          </p:nvSpPr>
          <p:spPr>
            <a:xfrm>
              <a:off x="7871040" y="350244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grpSp>
        <p:nvGrpSpPr>
          <p:cNvPr id="77" name="Group 9"/>
          <p:cNvGrpSpPr/>
          <p:nvPr/>
        </p:nvGrpSpPr>
        <p:grpSpPr>
          <a:xfrm>
            <a:off x="7848000" y="4882680"/>
            <a:ext cx="244440" cy="250200"/>
            <a:chOff x="7848000" y="4882680"/>
            <a:chExt cx="244440" cy="250200"/>
          </a:xfrm>
        </p:grpSpPr>
        <p:sp>
          <p:nvSpPr>
            <p:cNvPr id="78" name="Freeform 10"/>
            <p:cNvSpPr/>
            <p:nvPr/>
          </p:nvSpPr>
          <p:spPr>
            <a:xfrm>
              <a:off x="7848000" y="488844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9" name="TextBox 11"/>
            <p:cNvSpPr/>
            <p:nvPr/>
          </p:nvSpPr>
          <p:spPr>
            <a:xfrm>
              <a:off x="7870680" y="488268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grpSp>
        <p:nvGrpSpPr>
          <p:cNvPr id="80" name="Group 12"/>
          <p:cNvGrpSpPr/>
          <p:nvPr/>
        </p:nvGrpSpPr>
        <p:grpSpPr>
          <a:xfrm>
            <a:off x="7848000" y="6262560"/>
            <a:ext cx="244440" cy="250200"/>
            <a:chOff x="7848000" y="6262560"/>
            <a:chExt cx="244440" cy="250200"/>
          </a:xfrm>
        </p:grpSpPr>
        <p:sp>
          <p:nvSpPr>
            <p:cNvPr id="81" name="Freeform 13"/>
            <p:cNvSpPr/>
            <p:nvPr/>
          </p:nvSpPr>
          <p:spPr>
            <a:xfrm>
              <a:off x="7848000" y="626832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2" name="TextBox 14"/>
            <p:cNvSpPr/>
            <p:nvPr/>
          </p:nvSpPr>
          <p:spPr>
            <a:xfrm>
              <a:off x="7871040" y="626256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grpSp>
        <p:nvGrpSpPr>
          <p:cNvPr id="83" name="Group 15"/>
          <p:cNvGrpSpPr/>
          <p:nvPr/>
        </p:nvGrpSpPr>
        <p:grpSpPr>
          <a:xfrm>
            <a:off x="7848000" y="7642440"/>
            <a:ext cx="244440" cy="250200"/>
            <a:chOff x="7848000" y="7642440"/>
            <a:chExt cx="244440" cy="250200"/>
          </a:xfrm>
        </p:grpSpPr>
        <p:sp>
          <p:nvSpPr>
            <p:cNvPr id="84" name="Freeform 16"/>
            <p:cNvSpPr/>
            <p:nvPr/>
          </p:nvSpPr>
          <p:spPr>
            <a:xfrm>
              <a:off x="7848000" y="764820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5" name="TextBox 17"/>
            <p:cNvSpPr/>
            <p:nvPr/>
          </p:nvSpPr>
          <p:spPr>
            <a:xfrm>
              <a:off x="7870680" y="764244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86" name="TextBox 18"/>
          <p:cNvSpPr/>
          <p:nvPr/>
        </p:nvSpPr>
        <p:spPr>
          <a:xfrm>
            <a:off x="3820680" y="1628640"/>
            <a:ext cx="9614880" cy="1278000"/>
          </a:xfrm>
          <a:prstGeom prst="rect">
            <a:avLst/>
          </a:prstGeom>
          <a:noFill/>
          <a:ln w="0">
            <a:noFill/>
          </a:ln>
        </p:spPr>
        <p:style>
          <a:lnRef idx="0"/>
          <a:fillRef idx="0"/>
          <a:effectRef idx="0"/>
          <a:fontRef idx="minor"/>
        </p:style>
        <p:txBody>
          <a:bodyPr lIns="0" tIns="0" rIns="0" bIns="0" anchor="t">
            <a:spAutoFit/>
          </a:bodyPr>
          <a:p>
            <a:pPr algn="ctr" defTabSz="914400">
              <a:lnSpc>
                <a:spcPts val="4595"/>
              </a:lnSpc>
              <a:tabLst>
                <a:tab pos="0" algn="l"/>
              </a:tabLst>
            </a:pPr>
            <a:r>
              <a:rPr lang="en-US" sz="4030" b="1" u="none" strike="noStrike">
                <a:solidFill>
                  <a:srgbClr val="303870"/>
                </a:solidFill>
                <a:effectLst/>
                <a:uFillTx/>
                <a:latin typeface="Agrandir Wide Bold"/>
                <a:ea typeface="Agrandir Wide Bold"/>
              </a:rPr>
              <a:t>PROJECT OVERVIEW &amp; REVIEW 2 FOCUS</a:t>
            </a:r>
            <a:endParaRPr lang="en-IN" sz="4030" b="0" u="none" strike="noStrike">
              <a:solidFill>
                <a:srgbClr val="000000"/>
              </a:solidFill>
              <a:effectLst/>
              <a:uFillTx/>
              <a:latin typeface="Arial"/>
            </a:endParaRPr>
          </a:p>
        </p:txBody>
      </p:sp>
      <p:sp>
        <p:nvSpPr>
          <p:cNvPr id="87" name="TextBox 19"/>
          <p:cNvSpPr/>
          <p:nvPr/>
        </p:nvSpPr>
        <p:spPr>
          <a:xfrm>
            <a:off x="1562760" y="4057920"/>
            <a:ext cx="5912280" cy="50472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Modern networks face uncontrolled device onboarding and static access policies that fail against dynamic, evolving cyber threats.</a:t>
            </a:r>
            <a:endParaRPr lang="en-IN" sz="1200" b="0" u="none" strike="noStrike">
              <a:solidFill>
                <a:srgbClr val="000000"/>
              </a:solidFill>
              <a:effectLst/>
              <a:uFillTx/>
              <a:latin typeface="Arial"/>
            </a:endParaRPr>
          </a:p>
        </p:txBody>
      </p:sp>
      <p:sp>
        <p:nvSpPr>
          <p:cNvPr id="88" name="TextBox 20"/>
          <p:cNvSpPr/>
          <p:nvPr/>
        </p:nvSpPr>
        <p:spPr>
          <a:xfrm>
            <a:off x="8465040" y="405792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End-to-end secure device registration, fingerprinting, risk scoring, and intelligent access control across heterogeneous network environments.</a:t>
            </a:r>
            <a:endParaRPr lang="en-IN" sz="1200" b="0" u="none" strike="noStrike">
              <a:solidFill>
                <a:srgbClr val="000000"/>
              </a:solidFill>
              <a:effectLst/>
              <a:uFillTx/>
              <a:latin typeface="Arial"/>
            </a:endParaRPr>
          </a:p>
        </p:txBody>
      </p:sp>
      <p:sp>
        <p:nvSpPr>
          <p:cNvPr id="89" name="TextBox 21"/>
          <p:cNvSpPr/>
          <p:nvPr/>
        </p:nvSpPr>
        <p:spPr>
          <a:xfrm>
            <a:off x="1562760" y="5438160"/>
            <a:ext cx="5912280" cy="50472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Existing access control systems lack adaptive intelligence, real-time device trust evaluation, and automated policy enforcement based on contextual risk.</a:t>
            </a:r>
            <a:endParaRPr lang="en-IN" sz="1200" b="0" u="none" strike="noStrike">
              <a:solidFill>
                <a:srgbClr val="000000"/>
              </a:solidFill>
              <a:effectLst/>
              <a:uFillTx/>
              <a:latin typeface="Arial"/>
            </a:endParaRPr>
          </a:p>
        </p:txBody>
      </p:sp>
      <p:sp>
        <p:nvSpPr>
          <p:cNvPr id="90" name="TextBox 22"/>
          <p:cNvSpPr/>
          <p:nvPr/>
        </p:nvSpPr>
        <p:spPr>
          <a:xfrm>
            <a:off x="8465040" y="543816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Design and implement a SOA-based system for device fingerprinting, dynamic risk scoring, and policy-driven access decisions with full audit logging.</a:t>
            </a:r>
            <a:endParaRPr lang="en-IN" sz="1200" b="0" u="none" strike="noStrike">
              <a:solidFill>
                <a:srgbClr val="000000"/>
              </a:solidFill>
              <a:effectLst/>
              <a:uFillTx/>
              <a:latin typeface="Arial"/>
            </a:endParaRPr>
          </a:p>
        </p:txBody>
      </p:sp>
      <p:sp>
        <p:nvSpPr>
          <p:cNvPr id="91" name="TextBox 23"/>
          <p:cNvSpPr/>
          <p:nvPr/>
        </p:nvSpPr>
        <p:spPr>
          <a:xfrm>
            <a:off x="1562760" y="6818040"/>
            <a:ext cx="5912280" cy="50472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Completed system architecture design, SOA service decomposition, database schema, and prototype device registration and fingerprinting modules.</a:t>
            </a:r>
            <a:endParaRPr lang="en-IN" sz="1200" b="0" u="none" strike="noStrike">
              <a:solidFill>
                <a:srgbClr val="000000"/>
              </a:solidFill>
              <a:effectLst/>
              <a:uFillTx/>
              <a:latin typeface="Arial"/>
            </a:endParaRPr>
          </a:p>
        </p:txBody>
      </p:sp>
      <p:sp>
        <p:nvSpPr>
          <p:cNvPr id="92" name="TextBox 24"/>
          <p:cNvSpPr/>
          <p:nvPr/>
        </p:nvSpPr>
        <p:spPr>
          <a:xfrm>
            <a:off x="8465040" y="681804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Dynamic risk scoring engine, access-decision microservice, API integration, end-to-end testing, and security history monitoring dashboard.</a:t>
            </a:r>
            <a:endParaRPr lang="en-IN" sz="1200" b="0" u="none" strike="noStrike">
              <a:solidFill>
                <a:srgbClr val="000000"/>
              </a:solidFill>
              <a:effectLst/>
              <a:uFillTx/>
              <a:latin typeface="Arial"/>
            </a:endParaRPr>
          </a:p>
        </p:txBody>
      </p:sp>
      <p:sp>
        <p:nvSpPr>
          <p:cNvPr id="93" name="TextBox 25"/>
          <p:cNvSpPr/>
          <p:nvPr/>
        </p:nvSpPr>
        <p:spPr>
          <a:xfrm>
            <a:off x="1562760" y="8197920"/>
            <a:ext cx="5912280" cy="50472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Combines behavioral fingerprinting, ML-assisted anomaly detection, and real-time adaptive policy enforcement within a modular microservices architecture.</a:t>
            </a:r>
            <a:endParaRPr lang="en-IN" sz="1200" b="0" u="none" strike="noStrike">
              <a:solidFill>
                <a:srgbClr val="000000"/>
              </a:solidFill>
              <a:effectLst/>
              <a:uFillTx/>
              <a:latin typeface="Arial"/>
            </a:endParaRPr>
          </a:p>
        </p:txBody>
      </p:sp>
      <p:sp>
        <p:nvSpPr>
          <p:cNvPr id="94" name="TextBox 26"/>
          <p:cNvSpPr/>
          <p:nvPr/>
        </p:nvSpPr>
        <p:spPr>
          <a:xfrm>
            <a:off x="8465040" y="819792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A fully operational, testable system with documented APIs, risk scoring logic, access control enforcement, and a Grafana-based monitoring dashboard.</a:t>
            </a:r>
            <a:endParaRPr lang="en-IN" sz="1200" b="0" u="none" strike="noStrike">
              <a:solidFill>
                <a:srgbClr val="000000"/>
              </a:solidFill>
              <a:effectLst/>
              <a:uFillTx/>
              <a:latin typeface="Arial"/>
            </a:endParaRPr>
          </a:p>
        </p:txBody>
      </p:sp>
      <p:sp>
        <p:nvSpPr>
          <p:cNvPr id="95" name="TextBox 27"/>
          <p:cNvSpPr/>
          <p:nvPr/>
        </p:nvSpPr>
        <p:spPr>
          <a:xfrm>
            <a:off x="1562760" y="333828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Project Motivation</a:t>
            </a:r>
            <a:endParaRPr lang="en-IN" sz="2830" b="0" u="none" strike="noStrike">
              <a:solidFill>
                <a:srgbClr val="000000"/>
              </a:solidFill>
              <a:effectLst/>
              <a:uFillTx/>
              <a:latin typeface="Arial"/>
            </a:endParaRPr>
          </a:p>
        </p:txBody>
      </p:sp>
      <p:sp>
        <p:nvSpPr>
          <p:cNvPr id="96" name="TextBox 28"/>
          <p:cNvSpPr/>
          <p:nvPr/>
        </p:nvSpPr>
        <p:spPr>
          <a:xfrm>
            <a:off x="8465040" y="333828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Project Scope</a:t>
            </a:r>
            <a:endParaRPr lang="en-IN" sz="2830" b="0" u="none" strike="noStrike">
              <a:solidFill>
                <a:srgbClr val="000000"/>
              </a:solidFill>
              <a:effectLst/>
              <a:uFillTx/>
              <a:latin typeface="Arial"/>
            </a:endParaRPr>
          </a:p>
        </p:txBody>
      </p:sp>
      <p:sp>
        <p:nvSpPr>
          <p:cNvPr id="97" name="TextBox 29"/>
          <p:cNvSpPr/>
          <p:nvPr/>
        </p:nvSpPr>
        <p:spPr>
          <a:xfrm>
            <a:off x="1562760" y="471816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Problem Statement</a:t>
            </a:r>
            <a:endParaRPr lang="en-IN" sz="2830" b="0" u="none" strike="noStrike">
              <a:solidFill>
                <a:srgbClr val="000000"/>
              </a:solidFill>
              <a:effectLst/>
              <a:uFillTx/>
              <a:latin typeface="Arial"/>
            </a:endParaRPr>
          </a:p>
        </p:txBody>
      </p:sp>
      <p:sp>
        <p:nvSpPr>
          <p:cNvPr id="98" name="TextBox 30"/>
          <p:cNvSpPr/>
          <p:nvPr/>
        </p:nvSpPr>
        <p:spPr>
          <a:xfrm>
            <a:off x="8465040" y="471816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Core Objectives</a:t>
            </a:r>
            <a:endParaRPr lang="en-IN" sz="2830" b="0" u="none" strike="noStrike">
              <a:solidFill>
                <a:srgbClr val="000000"/>
              </a:solidFill>
              <a:effectLst/>
              <a:uFillTx/>
              <a:latin typeface="Arial"/>
            </a:endParaRPr>
          </a:p>
        </p:txBody>
      </p:sp>
      <p:sp>
        <p:nvSpPr>
          <p:cNvPr id="99" name="TextBox 31"/>
          <p:cNvSpPr/>
          <p:nvPr/>
        </p:nvSpPr>
        <p:spPr>
          <a:xfrm>
            <a:off x="1562760" y="609840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Review 1 Progress</a:t>
            </a:r>
            <a:endParaRPr lang="en-IN" sz="2830" b="0" u="none" strike="noStrike">
              <a:solidFill>
                <a:srgbClr val="000000"/>
              </a:solidFill>
              <a:effectLst/>
              <a:uFillTx/>
              <a:latin typeface="Arial"/>
            </a:endParaRPr>
          </a:p>
        </p:txBody>
      </p:sp>
      <p:sp>
        <p:nvSpPr>
          <p:cNvPr id="100" name="TextBox 32"/>
          <p:cNvSpPr/>
          <p:nvPr/>
        </p:nvSpPr>
        <p:spPr>
          <a:xfrm>
            <a:off x="8465040" y="609840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Review 2 Focus</a:t>
            </a:r>
            <a:endParaRPr lang="en-IN" sz="2830" b="0" u="none" strike="noStrike">
              <a:solidFill>
                <a:srgbClr val="000000"/>
              </a:solidFill>
              <a:effectLst/>
              <a:uFillTx/>
              <a:latin typeface="Arial"/>
            </a:endParaRPr>
          </a:p>
        </p:txBody>
      </p:sp>
      <p:sp>
        <p:nvSpPr>
          <p:cNvPr id="101" name="TextBox 33"/>
          <p:cNvSpPr/>
          <p:nvPr/>
        </p:nvSpPr>
        <p:spPr>
          <a:xfrm>
            <a:off x="1562760" y="747828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Key Differentiators</a:t>
            </a:r>
            <a:endParaRPr lang="en-IN" sz="2830" b="0" u="none" strike="noStrike">
              <a:solidFill>
                <a:srgbClr val="000000"/>
              </a:solidFill>
              <a:effectLst/>
              <a:uFillTx/>
              <a:latin typeface="Arial"/>
            </a:endParaRPr>
          </a:p>
        </p:txBody>
      </p:sp>
      <p:sp>
        <p:nvSpPr>
          <p:cNvPr id="102" name="TextBox 34"/>
          <p:cNvSpPr/>
          <p:nvPr/>
        </p:nvSpPr>
        <p:spPr>
          <a:xfrm>
            <a:off x="8465040" y="747828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Expected Outcomes</a:t>
            </a:r>
            <a:endParaRPr lang="en-IN" sz="28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103" name="Group 2"/>
          <p:cNvGrpSpPr/>
          <p:nvPr/>
        </p:nvGrpSpPr>
        <p:grpSpPr>
          <a:xfrm>
            <a:off x="17259480" y="-361800"/>
            <a:ext cx="3085920" cy="10648440"/>
            <a:chOff x="17259480" y="-361800"/>
            <a:chExt cx="3085920" cy="10648440"/>
          </a:xfrm>
        </p:grpSpPr>
        <p:sp>
          <p:nvSpPr>
            <p:cNvPr id="104"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5"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06" name="TextBox 5"/>
          <p:cNvSpPr/>
          <p:nvPr/>
        </p:nvSpPr>
        <p:spPr>
          <a:xfrm>
            <a:off x="1028880" y="1405080"/>
            <a:ext cx="8115120" cy="1278000"/>
          </a:xfrm>
          <a:prstGeom prst="rect">
            <a:avLst/>
          </a:prstGeom>
          <a:noFill/>
          <a:ln w="0">
            <a:noFill/>
          </a:ln>
        </p:spPr>
        <p:style>
          <a:lnRef idx="0"/>
          <a:fillRef idx="0"/>
          <a:effectRef idx="0"/>
          <a:fontRef idx="minor"/>
        </p:style>
        <p:txBody>
          <a:bodyPr lIns="0" tIns="0" rIns="0" bIns="0" anchor="t">
            <a:spAutoFit/>
          </a:bodyPr>
          <a:p>
            <a:pPr defTabSz="914400">
              <a:lnSpc>
                <a:spcPts val="4595"/>
              </a:lnSpc>
              <a:tabLst>
                <a:tab pos="0" algn="l"/>
              </a:tabLst>
            </a:pPr>
            <a:r>
              <a:rPr lang="en-US" sz="4030" b="1" u="none" strike="noStrike">
                <a:solidFill>
                  <a:srgbClr val="303870"/>
                </a:solidFill>
                <a:effectLst/>
                <a:uFillTx/>
                <a:latin typeface="Agrandir Wide Bold"/>
                <a:ea typeface="Agrandir Wide Bold"/>
              </a:rPr>
              <a:t>SYSTEM ARCHITECTURE</a:t>
            </a:r>
            <a:endParaRPr lang="en-IN" sz="4030" b="0" u="none" strike="noStrike">
              <a:solidFill>
                <a:srgbClr val="000000"/>
              </a:solidFill>
              <a:effectLst/>
              <a:uFillTx/>
              <a:latin typeface="Arial"/>
            </a:endParaRPr>
          </a:p>
          <a:p>
            <a:pPr defTabSz="914400">
              <a:lnSpc>
                <a:spcPts val="4595"/>
              </a:lnSpc>
              <a:tabLst>
                <a:tab pos="0" algn="l"/>
              </a:tabLst>
            </a:pPr>
            <a:r>
              <a:rPr lang="en-US" sz="4030" b="1" u="none" strike="noStrike">
                <a:solidFill>
                  <a:srgbClr val="303870"/>
                </a:solidFill>
                <a:effectLst/>
                <a:uFillTx/>
                <a:latin typeface="Agrandir Wide Bold"/>
                <a:ea typeface="Agrandir Wide Bold"/>
              </a:rPr>
              <a:t>&amp; SOA SERVICES</a:t>
            </a:r>
            <a:endParaRPr lang="en-IN" sz="4030" b="0" u="none" strike="noStrike">
              <a:solidFill>
                <a:srgbClr val="000000"/>
              </a:solidFill>
              <a:effectLst/>
              <a:uFillTx/>
              <a:latin typeface="Arial"/>
            </a:endParaRPr>
          </a:p>
        </p:txBody>
      </p:sp>
      <p:sp>
        <p:nvSpPr>
          <p:cNvPr id="107" name="TextBox 6"/>
          <p:cNvSpPr/>
          <p:nvPr/>
        </p:nvSpPr>
        <p:spPr>
          <a:xfrm>
            <a:off x="1028880" y="3811320"/>
            <a:ext cx="6305400" cy="1643760"/>
          </a:xfrm>
          <a:prstGeom prst="rect">
            <a:avLst/>
          </a:prstGeom>
          <a:noFill/>
          <a:ln w="0">
            <a:noFill/>
          </a:ln>
        </p:spPr>
        <p:style>
          <a:lnRef idx="0"/>
          <a:fillRef idx="0"/>
          <a:effectRef idx="0"/>
          <a:fontRef idx="minor"/>
        </p:style>
        <p:txBody>
          <a:bodyPr lIns="0" tIns="0" rIns="0" bIns="0" anchor="t">
            <a:spAutoFit/>
          </a:bodyPr>
          <a:p>
            <a:pPr algn="just" defTabSz="914400">
              <a:lnSpc>
                <a:spcPts val="2214"/>
              </a:lnSpc>
              <a:tabLst>
                <a:tab pos="0" algn="l"/>
              </a:tabLst>
            </a:pPr>
            <a:r>
              <a:rPr lang="en-US" sz="1260" b="0" u="none" strike="noStrike">
                <a:solidFill>
                  <a:srgbClr val="303870"/>
                </a:solidFill>
                <a:effectLst/>
                <a:uFillTx/>
                <a:latin typeface="Nunito"/>
                <a:ea typeface="Nunito"/>
              </a:rPr>
              <a:t>The client/device layer encompasses all endpoint devices initiating access requests. Each device submits registration credentials, hardware fingerprint data, and behavioral signals. Communication flows through a secure API gateway using TLS-encrypted channels. Devices are classified by type, trust level, and registration status before any access decision is made. Unregistered or anomalous devices are quarantined automatically.</a:t>
            </a:r>
            <a:endParaRPr lang="en-IN" sz="1260" b="0" u="none" strike="noStrike">
              <a:solidFill>
                <a:srgbClr val="000000"/>
              </a:solidFill>
              <a:effectLst/>
              <a:uFillTx/>
              <a:latin typeface="Arial"/>
            </a:endParaRPr>
          </a:p>
        </p:txBody>
      </p:sp>
      <p:sp>
        <p:nvSpPr>
          <p:cNvPr id="108" name="TextBox 7"/>
          <p:cNvSpPr/>
          <p:nvPr/>
        </p:nvSpPr>
        <p:spPr>
          <a:xfrm>
            <a:off x="7806600" y="3811320"/>
            <a:ext cx="6305400" cy="1643760"/>
          </a:xfrm>
          <a:prstGeom prst="rect">
            <a:avLst/>
          </a:prstGeom>
          <a:noFill/>
          <a:ln w="0">
            <a:noFill/>
          </a:ln>
        </p:spPr>
        <p:style>
          <a:lnRef idx="0"/>
          <a:fillRef idx="0"/>
          <a:effectRef idx="0"/>
          <a:fontRef idx="minor"/>
        </p:style>
        <p:txBody>
          <a:bodyPr lIns="0" tIns="0" rIns="0" bIns="0" anchor="t">
            <a:spAutoFit/>
          </a:bodyPr>
          <a:p>
            <a:pPr algn="just" defTabSz="914400">
              <a:lnSpc>
                <a:spcPts val="2214"/>
              </a:lnSpc>
              <a:tabLst>
                <a:tab pos="0" algn="l"/>
              </a:tabLst>
            </a:pPr>
            <a:r>
              <a:rPr lang="en-US" sz="1260" b="0" u="none" strike="noStrike">
                <a:solidFill>
                  <a:srgbClr val="303870"/>
                </a:solidFill>
                <a:effectLst/>
                <a:uFillTx/>
                <a:latin typeface="Nunito"/>
                <a:ea typeface="Nunito"/>
              </a:rPr>
              <a:t>The SOA service layer comprises six loosely coupled microservices: (1) Registration Service — onboards and validates new devices; (2) Fingerprinting Service — extracts and stores hardware/behavioral signatures; (3) Risk Assessment Service — computes dynamic risk scores using ML models; (4) Policy Engine — enforces Allow/Monitor/Rate-Limit/Block decisions; (5) Authentication Service — manages token issuance and session integrity; (6) Audit Service — logs all events to PostgreSQL for forensic review.</a:t>
            </a:r>
            <a:endParaRPr lang="en-IN" sz="1260" b="0" u="none" strike="noStrike">
              <a:solidFill>
                <a:srgbClr val="000000"/>
              </a:solidFill>
              <a:effectLst/>
              <a:uFillTx/>
              <a:latin typeface="Arial"/>
            </a:endParaRPr>
          </a:p>
        </p:txBody>
      </p:sp>
      <p:sp>
        <p:nvSpPr>
          <p:cNvPr id="109" name="TextBox 8"/>
          <p:cNvSpPr/>
          <p:nvPr/>
        </p:nvSpPr>
        <p:spPr>
          <a:xfrm>
            <a:off x="1028880" y="3097800"/>
            <a:ext cx="6305400" cy="555840"/>
          </a:xfrm>
          <a:prstGeom prst="rect">
            <a:avLst/>
          </a:prstGeom>
          <a:noFill/>
          <a:ln w="0">
            <a:noFill/>
          </a:ln>
        </p:spPr>
        <p:style>
          <a:lnRef idx="0"/>
          <a:fillRef idx="0"/>
          <a:effectRef idx="0"/>
          <a:fontRef idx="minor"/>
        </p:style>
        <p:txBody>
          <a:bodyPr lIns="0" tIns="0" rIns="0" bIns="0" anchor="t">
            <a:spAutoFit/>
          </a:bodyPr>
          <a:p>
            <a:pPr defTabSz="914400">
              <a:lnSpc>
                <a:spcPts val="4516"/>
              </a:lnSpc>
              <a:tabLst>
                <a:tab pos="0" algn="l"/>
              </a:tabLst>
            </a:pPr>
            <a:r>
              <a:rPr lang="en-US" sz="3230" b="1" u="none" strike="noStrike">
                <a:solidFill>
                  <a:srgbClr val="303870"/>
                </a:solidFill>
                <a:effectLst/>
                <a:uFillTx/>
                <a:latin typeface="Nunito Bold"/>
                <a:ea typeface="Nunito Bold"/>
              </a:rPr>
              <a:t>Client / Device Layer</a:t>
            </a:r>
            <a:endParaRPr lang="en-IN" sz="3230" b="0" u="none" strike="noStrike">
              <a:solidFill>
                <a:srgbClr val="000000"/>
              </a:solidFill>
              <a:effectLst/>
              <a:uFillTx/>
              <a:latin typeface="Arial"/>
            </a:endParaRPr>
          </a:p>
        </p:txBody>
      </p:sp>
      <p:sp>
        <p:nvSpPr>
          <p:cNvPr id="110" name="TextBox 9"/>
          <p:cNvSpPr/>
          <p:nvPr/>
        </p:nvSpPr>
        <p:spPr>
          <a:xfrm>
            <a:off x="7806600" y="3097800"/>
            <a:ext cx="6305400" cy="555840"/>
          </a:xfrm>
          <a:prstGeom prst="rect">
            <a:avLst/>
          </a:prstGeom>
          <a:noFill/>
          <a:ln w="0">
            <a:noFill/>
          </a:ln>
        </p:spPr>
        <p:style>
          <a:lnRef idx="0"/>
          <a:fillRef idx="0"/>
          <a:effectRef idx="0"/>
          <a:fontRef idx="minor"/>
        </p:style>
        <p:txBody>
          <a:bodyPr lIns="0" tIns="0" rIns="0" bIns="0" anchor="t">
            <a:spAutoFit/>
          </a:bodyPr>
          <a:p>
            <a:pPr defTabSz="914400">
              <a:lnSpc>
                <a:spcPts val="4516"/>
              </a:lnSpc>
              <a:tabLst>
                <a:tab pos="0" algn="l"/>
              </a:tabLst>
            </a:pPr>
            <a:r>
              <a:rPr lang="en-US" sz="3230" b="1" u="none" strike="noStrike">
                <a:solidFill>
                  <a:srgbClr val="303870"/>
                </a:solidFill>
                <a:effectLst/>
                <a:uFillTx/>
                <a:latin typeface="Nunito Bold"/>
                <a:ea typeface="Nunito Bold"/>
              </a:rPr>
              <a:t>Service Layer (SOA)</a:t>
            </a:r>
            <a:endParaRPr lang="en-IN" sz="3230" b="0" u="none" strike="noStrike">
              <a:solidFill>
                <a:srgbClr val="000000"/>
              </a:solidFill>
              <a:effectLst/>
              <a:uFillTx/>
              <a:latin typeface="Arial"/>
            </a:endParaRPr>
          </a:p>
        </p:txBody>
      </p:sp>
      <p:grpSp>
        <p:nvGrpSpPr>
          <p:cNvPr id="111" name="Group 10"/>
          <p:cNvGrpSpPr/>
          <p:nvPr/>
        </p:nvGrpSpPr>
        <p:grpSpPr>
          <a:xfrm>
            <a:off x="1028880" y="5939640"/>
            <a:ext cx="6305400" cy="2856240"/>
            <a:chOff x="1028880" y="5939640"/>
            <a:chExt cx="6305400" cy="2856240"/>
          </a:xfrm>
        </p:grpSpPr>
        <p:sp>
          <p:nvSpPr>
            <p:cNvPr id="112" name="Freeform 11"/>
            <p:cNvSpPr/>
            <p:nvPr/>
          </p:nvSpPr>
          <p:spPr>
            <a:xfrm>
              <a:off x="1028880" y="5939640"/>
              <a:ext cx="6305400" cy="2856240"/>
            </a:xfrm>
            <a:custGeom>
              <a:avLst/>
              <a:gdLst>
                <a:gd name="textAreaLeft" fmla="*/ 0 w 6305400"/>
                <a:gd name="textAreaRight" fmla="*/ 6305760 w 6305400"/>
                <a:gd name="textAreaTop" fmla="*/ 0 h 2856240"/>
                <a:gd name="textAreaBottom" fmla="*/ 2856600 h 2856240"/>
              </a:gdLst>
              <a:ahLst/>
              <a:cxnLst/>
              <a:rect l="textAreaLeft" t="textAreaTop" r="textAreaRight" b="textAreaBottom"/>
              <a:pathLst>
                <a:path w="976907" h="442579">
                  <a:moveTo>
                    <a:pt x="0" y="0"/>
                  </a:moveTo>
                  <a:lnTo>
                    <a:pt x="976907" y="0"/>
                  </a:lnTo>
                  <a:lnTo>
                    <a:pt x="976907" y="442579"/>
                  </a:lnTo>
                  <a:lnTo>
                    <a:pt x="0" y="442579"/>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grpSp>
        <p:nvGrpSpPr>
          <p:cNvPr id="113" name="Group 12"/>
          <p:cNvGrpSpPr/>
          <p:nvPr/>
        </p:nvGrpSpPr>
        <p:grpSpPr>
          <a:xfrm>
            <a:off x="7806600" y="5939640"/>
            <a:ext cx="6305400" cy="2856240"/>
            <a:chOff x="7806600" y="5939640"/>
            <a:chExt cx="6305400" cy="2856240"/>
          </a:xfrm>
        </p:grpSpPr>
        <p:sp>
          <p:nvSpPr>
            <p:cNvPr id="114" name="Freeform 13"/>
            <p:cNvSpPr/>
            <p:nvPr/>
          </p:nvSpPr>
          <p:spPr>
            <a:xfrm>
              <a:off x="7806600" y="5939640"/>
              <a:ext cx="6305400" cy="2856240"/>
            </a:xfrm>
            <a:custGeom>
              <a:avLst/>
              <a:gdLst>
                <a:gd name="textAreaLeft" fmla="*/ 0 w 6305400"/>
                <a:gd name="textAreaRight" fmla="*/ 6305760 w 6305400"/>
                <a:gd name="textAreaTop" fmla="*/ 0 h 2856240"/>
                <a:gd name="textAreaBottom" fmla="*/ 2856600 h 2856240"/>
              </a:gdLst>
              <a:ahLst/>
              <a:cxnLst/>
              <a:rect l="textAreaLeft" t="textAreaTop" r="textAreaRight" b="textAreaBottom"/>
              <a:pathLst>
                <a:path w="976907" h="442579">
                  <a:moveTo>
                    <a:pt x="0" y="0"/>
                  </a:moveTo>
                  <a:lnTo>
                    <a:pt x="976907" y="0"/>
                  </a:lnTo>
                  <a:lnTo>
                    <a:pt x="976907" y="442579"/>
                  </a:lnTo>
                  <a:lnTo>
                    <a:pt x="0" y="442579"/>
                  </a:lnTo>
                  <a:close/>
                </a:path>
              </a:pathLst>
            </a:custGeom>
            <a:blipFill rotWithShape="0">
              <a:blip r:embed="rId2"/>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115" name="Group 2"/>
          <p:cNvGrpSpPr/>
          <p:nvPr/>
        </p:nvGrpSpPr>
        <p:grpSpPr>
          <a:xfrm>
            <a:off x="17259480" y="-361800"/>
            <a:ext cx="3085920" cy="10648440"/>
            <a:chOff x="17259480" y="-361800"/>
            <a:chExt cx="3085920" cy="10648440"/>
          </a:xfrm>
        </p:grpSpPr>
        <p:sp>
          <p:nvSpPr>
            <p:cNvPr id="116"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7"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18" name="TextBox 5"/>
          <p:cNvSpPr/>
          <p:nvPr/>
        </p:nvSpPr>
        <p:spPr>
          <a:xfrm>
            <a:off x="1028880" y="1841040"/>
            <a:ext cx="8359200" cy="2449440"/>
          </a:xfrm>
          <a:prstGeom prst="rect">
            <a:avLst/>
          </a:prstGeom>
          <a:noFill/>
          <a:ln w="0">
            <a:noFill/>
          </a:ln>
        </p:spPr>
        <p:style>
          <a:lnRef idx="0"/>
          <a:fillRef idx="0"/>
          <a:effectRef idx="0"/>
          <a:fontRef idx="minor"/>
        </p:style>
        <p:txBody>
          <a:bodyPr lIns="0" tIns="0" rIns="0" bIns="0" anchor="t">
            <a:spAutoFit/>
          </a:bodyPr>
          <a:p>
            <a:pPr defTabSz="914400">
              <a:lnSpc>
                <a:spcPts val="6004"/>
              </a:lnSpc>
              <a:tabLst>
                <a:tab pos="0" algn="l"/>
              </a:tabLst>
            </a:pPr>
            <a:r>
              <a:rPr lang="en-US" sz="5260" b="1" u="none" strike="noStrike">
                <a:solidFill>
                  <a:srgbClr val="303870"/>
                </a:solidFill>
                <a:effectLst/>
                <a:uFillTx/>
                <a:latin typeface="Agrandir Wide Bold"/>
                <a:ea typeface="Agrandir Wide Bold"/>
              </a:rPr>
              <a:t>METHODOLOGY &amp;</a:t>
            </a:r>
            <a:endParaRPr lang="en-IN" sz="5260" b="0" u="none" strike="noStrike">
              <a:solidFill>
                <a:srgbClr val="000000"/>
              </a:solidFill>
              <a:effectLst/>
              <a:uFillTx/>
              <a:latin typeface="Arial"/>
            </a:endParaRPr>
          </a:p>
          <a:p>
            <a:pPr defTabSz="914400">
              <a:lnSpc>
                <a:spcPts val="6004"/>
              </a:lnSpc>
              <a:tabLst>
                <a:tab pos="0" algn="l"/>
              </a:tabLst>
            </a:pPr>
            <a:r>
              <a:rPr lang="en-US" sz="5260" b="1" u="none" strike="noStrike">
                <a:solidFill>
                  <a:srgbClr val="303870"/>
                </a:solidFill>
                <a:effectLst/>
                <a:uFillTx/>
                <a:latin typeface="Agrandir Wide Bold"/>
                <a:ea typeface="Agrandir Wide Bold"/>
              </a:rPr>
              <a:t>ACCESS-DECISION FLOW</a:t>
            </a:r>
            <a:endParaRPr lang="en-IN" sz="5260" b="0" u="none" strike="noStrike">
              <a:solidFill>
                <a:srgbClr val="000000"/>
              </a:solidFill>
              <a:effectLst/>
              <a:uFillTx/>
              <a:latin typeface="Arial"/>
            </a:endParaRPr>
          </a:p>
        </p:txBody>
      </p:sp>
      <p:sp>
        <p:nvSpPr>
          <p:cNvPr id="119" name="TextBox 6"/>
          <p:cNvSpPr/>
          <p:nvPr/>
        </p:nvSpPr>
        <p:spPr>
          <a:xfrm>
            <a:off x="1028880" y="5519160"/>
            <a:ext cx="5715720" cy="842040"/>
          </a:xfrm>
          <a:prstGeom prst="rect">
            <a:avLst/>
          </a:prstGeom>
          <a:noFill/>
          <a:ln w="0">
            <a:noFill/>
          </a:ln>
        </p:spPr>
        <p:style>
          <a:lnRef idx="0"/>
          <a:fillRef idx="0"/>
          <a:effectRef idx="0"/>
          <a:fontRef idx="minor"/>
        </p:style>
        <p:txBody>
          <a:bodyPr lIns="0" tIns="0" rIns="0" bIns="0" anchor="t">
            <a:spAutoFit/>
          </a:bodyPr>
          <a:p>
            <a:pPr defTabSz="914400">
              <a:lnSpc>
                <a:spcPts val="2251"/>
              </a:lnSpc>
              <a:tabLst>
                <a:tab pos="0" algn="l"/>
              </a:tabLst>
            </a:pPr>
            <a:r>
              <a:rPr lang="en-US" sz="1280" b="0" u="none" strike="noStrike">
                <a:solidFill>
                  <a:srgbClr val="303870"/>
                </a:solidFill>
                <a:effectLst/>
                <a:uFillTx/>
                <a:latin typeface="Nunito"/>
                <a:ea typeface="Nunito"/>
              </a:rPr>
              <a:t>A device initiates a connection request to the gateway; the request payload includes device ID, timestamp, and network metadata. The submission layer normalises and forwards the request to the verification pipeline for processing.</a:t>
            </a:r>
            <a:endParaRPr lang="en-IN" sz="1280" b="0" u="none" strike="noStrike">
              <a:solidFill>
                <a:srgbClr val="000000"/>
              </a:solidFill>
              <a:effectLst/>
              <a:uFillTx/>
              <a:latin typeface="Arial"/>
            </a:endParaRPr>
          </a:p>
        </p:txBody>
      </p:sp>
      <p:sp>
        <p:nvSpPr>
          <p:cNvPr id="120" name="TextBox 7"/>
          <p:cNvSpPr/>
          <p:nvPr/>
        </p:nvSpPr>
        <p:spPr>
          <a:xfrm>
            <a:off x="7221240" y="5519160"/>
            <a:ext cx="6103440" cy="842040"/>
          </a:xfrm>
          <a:prstGeom prst="rect">
            <a:avLst/>
          </a:prstGeom>
          <a:noFill/>
          <a:ln w="0">
            <a:noFill/>
          </a:ln>
        </p:spPr>
        <p:style>
          <a:lnRef idx="0"/>
          <a:fillRef idx="0"/>
          <a:effectRef idx="0"/>
          <a:fontRef idx="minor"/>
        </p:style>
        <p:txBody>
          <a:bodyPr lIns="0" tIns="0" rIns="0" bIns="0" anchor="t">
            <a:spAutoFit/>
          </a:bodyPr>
          <a:p>
            <a:pPr defTabSz="914400">
              <a:lnSpc>
                <a:spcPts val="2251"/>
              </a:lnSpc>
              <a:tabLst>
                <a:tab pos="0" algn="l"/>
              </a:tabLst>
            </a:pPr>
            <a:r>
              <a:rPr lang="en-US" sz="1280" b="0" u="none" strike="noStrike">
                <a:solidFill>
                  <a:srgbClr val="303870"/>
                </a:solidFill>
                <a:effectLst/>
                <a:uFillTx/>
                <a:latin typeface="Nunito"/>
                <a:ea typeface="Nunito"/>
              </a:rPr>
              <a:t>The identity service validates device credentials against the registration store; the fingerprinting module cross-checks hardware and behavioural fingerprints to detect spoofing, cloning, or credential misuse attempts.</a:t>
            </a:r>
            <a:endParaRPr lang="en-IN" sz="1280" b="0" u="none" strike="noStrike">
              <a:solidFill>
                <a:srgbClr val="000000"/>
              </a:solidFill>
              <a:effectLst/>
              <a:uFillTx/>
              <a:latin typeface="Arial"/>
            </a:endParaRPr>
          </a:p>
        </p:txBody>
      </p:sp>
      <p:sp>
        <p:nvSpPr>
          <p:cNvPr id="121" name="TextBox 8"/>
          <p:cNvSpPr/>
          <p:nvPr/>
        </p:nvSpPr>
        <p:spPr>
          <a:xfrm>
            <a:off x="1028880" y="7461720"/>
            <a:ext cx="5715720" cy="842040"/>
          </a:xfrm>
          <a:prstGeom prst="rect">
            <a:avLst/>
          </a:prstGeom>
          <a:noFill/>
          <a:ln w="0">
            <a:noFill/>
          </a:ln>
        </p:spPr>
        <p:style>
          <a:lnRef idx="0"/>
          <a:fillRef idx="0"/>
          <a:effectRef idx="0"/>
          <a:fontRef idx="minor"/>
        </p:style>
        <p:txBody>
          <a:bodyPr lIns="0" tIns="0" rIns="0" bIns="0" anchor="t">
            <a:spAutoFit/>
          </a:bodyPr>
          <a:p>
            <a:pPr defTabSz="914400">
              <a:lnSpc>
                <a:spcPts val="2251"/>
              </a:lnSpc>
              <a:tabLst>
                <a:tab pos="0" algn="l"/>
              </a:tabLst>
            </a:pPr>
            <a:r>
              <a:rPr lang="en-US" sz="1280" b="0" u="none" strike="noStrike">
                <a:solidFill>
                  <a:srgbClr val="303870"/>
                </a:solidFill>
                <a:effectLst/>
                <a:uFillTx/>
                <a:latin typeface="Nunito"/>
                <a:ea typeface="Nunito"/>
              </a:rPr>
              <a:t>The Risk Engine aggregates identity confidence, fingerprint match score, anomaly signals, and historical behaviour into a real-time numeric risk score (0–100), updated continuously per session event.</a:t>
            </a:r>
            <a:endParaRPr lang="en-IN" sz="1280" b="0" u="none" strike="noStrike">
              <a:solidFill>
                <a:srgbClr val="000000"/>
              </a:solidFill>
              <a:effectLst/>
              <a:uFillTx/>
              <a:latin typeface="Arial"/>
            </a:endParaRPr>
          </a:p>
        </p:txBody>
      </p:sp>
      <p:sp>
        <p:nvSpPr>
          <p:cNvPr id="122" name="TextBox 9"/>
          <p:cNvSpPr/>
          <p:nvPr/>
        </p:nvSpPr>
        <p:spPr>
          <a:xfrm>
            <a:off x="7221240" y="7461720"/>
            <a:ext cx="6103440" cy="842040"/>
          </a:xfrm>
          <a:prstGeom prst="rect">
            <a:avLst/>
          </a:prstGeom>
          <a:noFill/>
          <a:ln w="0">
            <a:noFill/>
          </a:ln>
        </p:spPr>
        <p:style>
          <a:lnRef idx="0"/>
          <a:fillRef idx="0"/>
          <a:effectRef idx="0"/>
          <a:fontRef idx="minor"/>
        </p:style>
        <p:txBody>
          <a:bodyPr lIns="0" tIns="0" rIns="0" bIns="0" anchor="t">
            <a:spAutoFit/>
          </a:bodyPr>
          <a:p>
            <a:pPr defTabSz="914400">
              <a:lnSpc>
                <a:spcPts val="2251"/>
              </a:lnSpc>
              <a:tabLst>
                <a:tab pos="0" algn="l"/>
              </a:tabLst>
            </a:pPr>
            <a:r>
              <a:rPr lang="en-US" sz="1280" b="0" u="none" strike="noStrike">
                <a:solidFill>
                  <a:srgbClr val="303870"/>
                </a:solidFill>
                <a:effectLst/>
                <a:uFillTx/>
                <a:latin typeface="Nunito"/>
                <a:ea typeface="Nunito"/>
              </a:rPr>
              <a:t>The Decision Engine maps the risk score to a policy action: Allow (low risk), Challenge via MFA (medium risk), or Deny and isolate (high risk). All decisions are logged to PostgreSQL for audit and adaptive policy feedback.</a:t>
            </a:r>
            <a:endParaRPr lang="en-IN" sz="1280" b="0" u="none" strike="noStrike">
              <a:solidFill>
                <a:srgbClr val="000000"/>
              </a:solidFill>
              <a:effectLst/>
              <a:uFillTx/>
              <a:latin typeface="Arial"/>
            </a:endParaRPr>
          </a:p>
        </p:txBody>
      </p:sp>
      <p:sp>
        <p:nvSpPr>
          <p:cNvPr id="123" name="TextBox 10"/>
          <p:cNvSpPr/>
          <p:nvPr/>
        </p:nvSpPr>
        <p:spPr>
          <a:xfrm>
            <a:off x="1028880" y="4722840"/>
            <a:ext cx="5715720" cy="340560"/>
          </a:xfrm>
          <a:prstGeom prst="rect">
            <a:avLst/>
          </a:prstGeom>
          <a:noFill/>
          <a:ln w="0">
            <a:noFill/>
          </a:ln>
        </p:spPr>
        <p:style>
          <a:lnRef idx="0"/>
          <a:fillRef idx="0"/>
          <a:effectRef idx="0"/>
          <a:fontRef idx="minor"/>
        </p:style>
        <p:txBody>
          <a:bodyPr lIns="0" tIns="0" rIns="0" bIns="0" anchor="t">
            <a:spAutoFit/>
          </a:bodyPr>
          <a:p>
            <a:pPr defTabSz="914400">
              <a:lnSpc>
                <a:spcPts val="2741"/>
              </a:lnSpc>
              <a:tabLst>
                <a:tab pos="0" algn="l"/>
              </a:tabLst>
            </a:pPr>
            <a:r>
              <a:rPr lang="en-US" sz="1960" b="1" u="none" strike="noStrike">
                <a:solidFill>
                  <a:srgbClr val="303870"/>
                </a:solidFill>
                <a:effectLst/>
                <a:uFillTx/>
                <a:latin typeface="Nunito Bold"/>
                <a:ea typeface="Nunito Bold"/>
              </a:rPr>
              <a:t>Step 1 – Device/Request Submission:</a:t>
            </a:r>
            <a:endParaRPr lang="en-IN" sz="1960" b="0" u="none" strike="noStrike">
              <a:solidFill>
                <a:srgbClr val="000000"/>
              </a:solidFill>
              <a:effectLst/>
              <a:uFillTx/>
              <a:latin typeface="Arial"/>
            </a:endParaRPr>
          </a:p>
        </p:txBody>
      </p:sp>
      <p:sp>
        <p:nvSpPr>
          <p:cNvPr id="124" name="TextBox 11"/>
          <p:cNvSpPr/>
          <p:nvPr/>
        </p:nvSpPr>
        <p:spPr>
          <a:xfrm>
            <a:off x="7221240" y="4722840"/>
            <a:ext cx="5715720" cy="340560"/>
          </a:xfrm>
          <a:prstGeom prst="rect">
            <a:avLst/>
          </a:prstGeom>
          <a:noFill/>
          <a:ln w="0">
            <a:noFill/>
          </a:ln>
        </p:spPr>
        <p:style>
          <a:lnRef idx="0"/>
          <a:fillRef idx="0"/>
          <a:effectRef idx="0"/>
          <a:fontRef idx="minor"/>
        </p:style>
        <p:txBody>
          <a:bodyPr lIns="0" tIns="0" rIns="0" bIns="0" anchor="t">
            <a:spAutoFit/>
          </a:bodyPr>
          <a:p>
            <a:pPr defTabSz="914400">
              <a:lnSpc>
                <a:spcPts val="2741"/>
              </a:lnSpc>
              <a:tabLst>
                <a:tab pos="0" algn="l"/>
              </a:tabLst>
            </a:pPr>
            <a:r>
              <a:rPr lang="en-US" sz="1960" b="1" u="none" strike="noStrike">
                <a:solidFill>
                  <a:srgbClr val="303870"/>
                </a:solidFill>
                <a:effectLst/>
                <a:uFillTx/>
                <a:latin typeface="Nunito Bold"/>
                <a:ea typeface="Nunito Bold"/>
              </a:rPr>
              <a:t>Step 2 – Identity &amp; Fingerprint Verification:</a:t>
            </a:r>
            <a:endParaRPr lang="en-IN" sz="1960" b="0" u="none" strike="noStrike">
              <a:solidFill>
                <a:srgbClr val="000000"/>
              </a:solidFill>
              <a:effectLst/>
              <a:uFillTx/>
              <a:latin typeface="Arial"/>
            </a:endParaRPr>
          </a:p>
        </p:txBody>
      </p:sp>
      <p:sp>
        <p:nvSpPr>
          <p:cNvPr id="125" name="TextBox 12"/>
          <p:cNvSpPr/>
          <p:nvPr/>
        </p:nvSpPr>
        <p:spPr>
          <a:xfrm>
            <a:off x="1028880" y="6665400"/>
            <a:ext cx="5715720" cy="340560"/>
          </a:xfrm>
          <a:prstGeom prst="rect">
            <a:avLst/>
          </a:prstGeom>
          <a:noFill/>
          <a:ln w="0">
            <a:noFill/>
          </a:ln>
        </p:spPr>
        <p:style>
          <a:lnRef idx="0"/>
          <a:fillRef idx="0"/>
          <a:effectRef idx="0"/>
          <a:fontRef idx="minor"/>
        </p:style>
        <p:txBody>
          <a:bodyPr lIns="0" tIns="0" rIns="0" bIns="0" anchor="t">
            <a:spAutoFit/>
          </a:bodyPr>
          <a:p>
            <a:pPr defTabSz="914400">
              <a:lnSpc>
                <a:spcPts val="2741"/>
              </a:lnSpc>
              <a:tabLst>
                <a:tab pos="0" algn="l"/>
              </a:tabLst>
            </a:pPr>
            <a:r>
              <a:rPr lang="en-US" sz="1960" b="1" u="none" strike="noStrike">
                <a:solidFill>
                  <a:srgbClr val="303870"/>
                </a:solidFill>
                <a:effectLst/>
                <a:uFillTx/>
                <a:latin typeface="Nunito Bold"/>
                <a:ea typeface="Nunito Bold"/>
              </a:rPr>
              <a:t>Step 3 – Dynamic Risk Scoring:</a:t>
            </a:r>
            <a:endParaRPr lang="en-IN" sz="1960" b="0" u="none" strike="noStrike">
              <a:solidFill>
                <a:srgbClr val="000000"/>
              </a:solidFill>
              <a:effectLst/>
              <a:uFillTx/>
              <a:latin typeface="Arial"/>
            </a:endParaRPr>
          </a:p>
        </p:txBody>
      </p:sp>
      <p:sp>
        <p:nvSpPr>
          <p:cNvPr id="126" name="TextBox 13"/>
          <p:cNvSpPr/>
          <p:nvPr/>
        </p:nvSpPr>
        <p:spPr>
          <a:xfrm>
            <a:off x="7221240" y="6665400"/>
            <a:ext cx="5715720" cy="340560"/>
          </a:xfrm>
          <a:prstGeom prst="rect">
            <a:avLst/>
          </a:prstGeom>
          <a:noFill/>
          <a:ln w="0">
            <a:noFill/>
          </a:ln>
        </p:spPr>
        <p:style>
          <a:lnRef idx="0"/>
          <a:fillRef idx="0"/>
          <a:effectRef idx="0"/>
          <a:fontRef idx="minor"/>
        </p:style>
        <p:txBody>
          <a:bodyPr lIns="0" tIns="0" rIns="0" bIns="0" anchor="t">
            <a:spAutoFit/>
          </a:bodyPr>
          <a:p>
            <a:pPr defTabSz="914400">
              <a:lnSpc>
                <a:spcPts val="2741"/>
              </a:lnSpc>
              <a:tabLst>
                <a:tab pos="0" algn="l"/>
              </a:tabLst>
            </a:pPr>
            <a:r>
              <a:rPr lang="en-US" sz="1960" b="1" u="none" strike="noStrike">
                <a:solidFill>
                  <a:srgbClr val="303870"/>
                </a:solidFill>
                <a:effectLst/>
                <a:uFillTx/>
                <a:latin typeface="Nunito Bold"/>
                <a:ea typeface="Nunito Bold"/>
              </a:rPr>
              <a:t>Step 4 – Allow / Challenge / Deny Decision:</a:t>
            </a:r>
            <a:endParaRPr lang="en-IN" sz="1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127" name="Group 2"/>
          <p:cNvGrpSpPr/>
          <p:nvPr/>
        </p:nvGrpSpPr>
        <p:grpSpPr>
          <a:xfrm>
            <a:off x="17259480" y="-361800"/>
            <a:ext cx="3085920" cy="10648440"/>
            <a:chOff x="17259480" y="-361800"/>
            <a:chExt cx="3085920" cy="10648440"/>
          </a:xfrm>
        </p:grpSpPr>
        <p:sp>
          <p:nvSpPr>
            <p:cNvPr id="128"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9"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30" name="TextBox 5"/>
          <p:cNvSpPr/>
          <p:nvPr/>
        </p:nvSpPr>
        <p:spPr>
          <a:xfrm>
            <a:off x="1028880" y="1471320"/>
            <a:ext cx="9384120" cy="1687680"/>
          </a:xfrm>
          <a:prstGeom prst="rect">
            <a:avLst/>
          </a:prstGeom>
          <a:noFill/>
          <a:ln w="0">
            <a:noFill/>
          </a:ln>
        </p:spPr>
        <p:style>
          <a:lnRef idx="0"/>
          <a:fillRef idx="0"/>
          <a:effectRef idx="0"/>
          <a:fontRef idx="minor"/>
        </p:style>
        <p:txBody>
          <a:bodyPr lIns="0" tIns="0" rIns="0" bIns="0" anchor="t">
            <a:spAutoFit/>
          </a:bodyPr>
          <a:p>
            <a:pPr defTabSz="914400">
              <a:lnSpc>
                <a:spcPts val="6007"/>
              </a:lnSpc>
              <a:tabLst>
                <a:tab pos="0" algn="l"/>
              </a:tabLst>
            </a:pPr>
            <a:r>
              <a:rPr lang="en-US" sz="5270" b="1" u="none" strike="noStrike">
                <a:solidFill>
                  <a:srgbClr val="303870"/>
                </a:solidFill>
                <a:effectLst/>
                <a:uFillTx/>
                <a:latin typeface="Agrandir Wide Bold"/>
                <a:ea typeface="Agrandir Wide Bold"/>
              </a:rPr>
              <a:t>DEVICE REGISTRATION &amp; FINGERPRINTING</a:t>
            </a:r>
            <a:endParaRPr lang="en-IN" sz="5270" b="0" u="none" strike="noStrike">
              <a:solidFill>
                <a:srgbClr val="000000"/>
              </a:solidFill>
              <a:effectLst/>
              <a:uFillTx/>
              <a:latin typeface="Arial"/>
            </a:endParaRPr>
          </a:p>
        </p:txBody>
      </p:sp>
      <p:sp>
        <p:nvSpPr>
          <p:cNvPr id="131" name="TextBox 6"/>
          <p:cNvSpPr/>
          <p:nvPr/>
        </p:nvSpPr>
        <p:spPr>
          <a:xfrm>
            <a:off x="1031040" y="506772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New devices initiate registration via a secure REST endpoint. The system collects device metadata, validates the request origin, and issues a provisional identity token pending full fingerprint verification and admin approval.</a:t>
            </a:r>
            <a:endParaRPr lang="en-IN" sz="1200" b="0" u="none" strike="noStrike">
              <a:solidFill>
                <a:srgbClr val="000000"/>
              </a:solidFill>
              <a:effectLst/>
              <a:uFillTx/>
              <a:latin typeface="Arial"/>
            </a:endParaRPr>
          </a:p>
        </p:txBody>
      </p:sp>
      <p:sp>
        <p:nvSpPr>
          <p:cNvPr id="132" name="TextBox 7"/>
          <p:cNvSpPr/>
          <p:nvPr/>
        </p:nvSpPr>
        <p:spPr>
          <a:xfrm>
            <a:off x="1028880" y="738396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Each registered device is cryptographically bound to a user identity. A unique device-user pair record is stored in PostgreSQL, linking the hardware fingerprint to authenticated credentials for persistent session validation.</a:t>
            </a:r>
            <a:endParaRPr lang="en-IN" sz="1200" b="0" u="none" strike="noStrike">
              <a:solidFill>
                <a:srgbClr val="000000"/>
              </a:solidFill>
              <a:effectLst/>
              <a:uFillTx/>
              <a:latin typeface="Arial"/>
            </a:endParaRPr>
          </a:p>
        </p:txBody>
      </p:sp>
      <p:sp>
        <p:nvSpPr>
          <p:cNvPr id="133" name="TextBox 8"/>
          <p:cNvSpPr/>
          <p:nvPr/>
        </p:nvSpPr>
        <p:spPr>
          <a:xfrm>
            <a:off x="5806440" y="506772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Device fingerprints are derived from MAC address, OS type, browser/agent string, screen resolution, timezone, and IP subnet. These attributes are hashed into a stable fingerprint vector stored for future comparison.</a:t>
            </a:r>
            <a:endParaRPr lang="en-IN" sz="1200" b="0" u="none" strike="noStrike">
              <a:solidFill>
                <a:srgbClr val="000000"/>
              </a:solidFill>
              <a:effectLst/>
              <a:uFillTx/>
              <a:latin typeface="Arial"/>
            </a:endParaRPr>
          </a:p>
        </p:txBody>
      </p:sp>
      <p:sp>
        <p:nvSpPr>
          <p:cNvPr id="134" name="TextBox 9"/>
          <p:cNvSpPr/>
          <p:nvPr/>
        </p:nvSpPr>
        <p:spPr>
          <a:xfrm>
            <a:off x="5803920" y="7383960"/>
            <a:ext cx="386712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Device credentials are salted and hashed using bcrypt before storage. JWT tokens with short expiry are issued upon successful registration. Refresh tokens are rotated on each use to prevent replay attacks.</a:t>
            </a:r>
            <a:endParaRPr lang="en-IN" sz="1200" b="0" u="none" strike="noStrike">
              <a:solidFill>
                <a:srgbClr val="000000"/>
              </a:solidFill>
              <a:effectLst/>
              <a:uFillTx/>
              <a:latin typeface="Arial"/>
            </a:endParaRPr>
          </a:p>
        </p:txBody>
      </p:sp>
      <p:sp>
        <p:nvSpPr>
          <p:cNvPr id="135" name="TextBox 10"/>
          <p:cNvSpPr/>
          <p:nvPr/>
        </p:nvSpPr>
        <p:spPr>
          <a:xfrm>
            <a:off x="10586160" y="5067720"/>
            <a:ext cx="3867120" cy="130500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Incoming fingerprints are compared against the registered device store using cosine similarity scoring. Devices exceeding a match threshold are flagged as duplicates, triggering alerts and blocking redundant registration attempts.</a:t>
            </a:r>
            <a:endParaRPr lang="en-IN" sz="1200" b="0" u="none" strike="noStrike">
              <a:solidFill>
                <a:srgbClr val="000000"/>
              </a:solidFill>
              <a:effectLst/>
              <a:uFillTx/>
              <a:latin typeface="Arial"/>
            </a:endParaRPr>
          </a:p>
        </p:txBody>
      </p:sp>
      <p:sp>
        <p:nvSpPr>
          <p:cNvPr id="136" name="TextBox 11"/>
          <p:cNvSpPr/>
          <p:nvPr/>
        </p:nvSpPr>
        <p:spPr>
          <a:xfrm>
            <a:off x="10584000" y="738396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All device records are persisted in PostgreSQL with AES-256 encryption at rest. Redis caches active device sessions for low-latency lookups. Audit logs capture every registration event for forensic traceability.</a:t>
            </a:r>
            <a:endParaRPr lang="en-IN" sz="1200" b="0" u="none" strike="noStrike">
              <a:solidFill>
                <a:srgbClr val="000000"/>
              </a:solidFill>
              <a:effectLst/>
              <a:uFillTx/>
              <a:latin typeface="Arial"/>
            </a:endParaRPr>
          </a:p>
        </p:txBody>
      </p:sp>
      <p:sp>
        <p:nvSpPr>
          <p:cNvPr id="137" name="TextBox 12"/>
          <p:cNvSpPr/>
          <p:nvPr/>
        </p:nvSpPr>
        <p:spPr>
          <a:xfrm>
            <a:off x="1031040" y="433872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Registration Workflow</a:t>
            </a:r>
            <a:endParaRPr lang="en-IN" sz="2810" b="0" u="none" strike="noStrike">
              <a:solidFill>
                <a:srgbClr val="000000"/>
              </a:solidFill>
              <a:effectLst/>
              <a:uFillTx/>
              <a:latin typeface="Arial"/>
            </a:endParaRPr>
          </a:p>
        </p:txBody>
      </p:sp>
      <p:sp>
        <p:nvSpPr>
          <p:cNvPr id="138" name="TextBox 13"/>
          <p:cNvSpPr/>
          <p:nvPr/>
        </p:nvSpPr>
        <p:spPr>
          <a:xfrm>
            <a:off x="1028880" y="665460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Identity Binding</a:t>
            </a:r>
            <a:endParaRPr lang="en-IN" sz="2810" b="0" u="none" strike="noStrike">
              <a:solidFill>
                <a:srgbClr val="000000"/>
              </a:solidFill>
              <a:effectLst/>
              <a:uFillTx/>
              <a:latin typeface="Arial"/>
            </a:endParaRPr>
          </a:p>
        </p:txBody>
      </p:sp>
      <p:sp>
        <p:nvSpPr>
          <p:cNvPr id="139" name="TextBox 14"/>
          <p:cNvSpPr/>
          <p:nvPr/>
        </p:nvSpPr>
        <p:spPr>
          <a:xfrm>
            <a:off x="5806440" y="433872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Fingerprint Attributes</a:t>
            </a:r>
            <a:endParaRPr lang="en-IN" sz="2810" b="0" u="none" strike="noStrike">
              <a:solidFill>
                <a:srgbClr val="000000"/>
              </a:solidFill>
              <a:effectLst/>
              <a:uFillTx/>
              <a:latin typeface="Arial"/>
            </a:endParaRPr>
          </a:p>
        </p:txBody>
      </p:sp>
      <p:sp>
        <p:nvSpPr>
          <p:cNvPr id="140" name="TextBox 15"/>
          <p:cNvSpPr/>
          <p:nvPr/>
        </p:nvSpPr>
        <p:spPr>
          <a:xfrm>
            <a:off x="5803920" y="665460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Credential Handling</a:t>
            </a:r>
            <a:endParaRPr lang="en-IN" sz="2810" b="0" u="none" strike="noStrike">
              <a:solidFill>
                <a:srgbClr val="000000"/>
              </a:solidFill>
              <a:effectLst/>
              <a:uFillTx/>
              <a:latin typeface="Arial"/>
            </a:endParaRPr>
          </a:p>
        </p:txBody>
      </p:sp>
      <p:sp>
        <p:nvSpPr>
          <p:cNvPr id="141" name="TextBox 16"/>
          <p:cNvSpPr/>
          <p:nvPr/>
        </p:nvSpPr>
        <p:spPr>
          <a:xfrm>
            <a:off x="10586160" y="433872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Duplicate Detection</a:t>
            </a:r>
            <a:endParaRPr lang="en-IN" sz="2810" b="0" u="none" strike="noStrike">
              <a:solidFill>
                <a:srgbClr val="000000"/>
              </a:solidFill>
              <a:effectLst/>
              <a:uFillTx/>
              <a:latin typeface="Arial"/>
            </a:endParaRPr>
          </a:p>
        </p:txBody>
      </p:sp>
      <p:sp>
        <p:nvSpPr>
          <p:cNvPr id="142" name="TextBox 17"/>
          <p:cNvSpPr/>
          <p:nvPr/>
        </p:nvSpPr>
        <p:spPr>
          <a:xfrm>
            <a:off x="10584000" y="665460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Secure Storage</a:t>
            </a:r>
            <a:endParaRPr lang="en-IN" sz="281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143" name="Group 2"/>
          <p:cNvGrpSpPr/>
          <p:nvPr/>
        </p:nvGrpSpPr>
        <p:grpSpPr>
          <a:xfrm>
            <a:off x="17259480" y="-361800"/>
            <a:ext cx="3085920" cy="10648440"/>
            <a:chOff x="17259480" y="-361800"/>
            <a:chExt cx="3085920" cy="10648440"/>
          </a:xfrm>
        </p:grpSpPr>
        <p:sp>
          <p:nvSpPr>
            <p:cNvPr id="144"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5"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46" name="AutoShape 5"/>
          <p:cNvSpPr/>
          <p:nvPr/>
        </p:nvSpPr>
        <p:spPr>
          <a:xfrm flipV="1">
            <a:off x="7970400" y="3630600"/>
            <a:ext cx="360" cy="4941720"/>
          </a:xfrm>
          <a:prstGeom prst="line">
            <a:avLst/>
          </a:prstGeom>
          <a:ln w="38100">
            <a:solidFill>
              <a:srgbClr val="303870"/>
            </a:solidFill>
            <a:round/>
          </a:ln>
        </p:spPr>
        <p:style>
          <a:lnRef idx="0"/>
          <a:fillRef idx="0"/>
          <a:effectRef idx="0"/>
          <a:fontRef idx="minor"/>
        </p:style>
        <p:txBody>
          <a:bodyPr lIns="90000" tIns="45000" rIns="90000" bIns="45000" anchor="t" anchorCtr="1">
            <a:noAutofit/>
          </a:bodyPr>
          <a:p>
            <a:endParaRPr lang="en-IN" sz="1800" b="0" u="none" strike="noStrike">
              <a:solidFill>
                <a:srgbClr val="000000"/>
              </a:solidFill>
              <a:effectLst/>
              <a:uFillTx/>
              <a:latin typeface="Arial"/>
            </a:endParaRPr>
          </a:p>
        </p:txBody>
      </p:sp>
      <p:grpSp>
        <p:nvGrpSpPr>
          <p:cNvPr id="147" name="Group 6"/>
          <p:cNvGrpSpPr/>
          <p:nvPr/>
        </p:nvGrpSpPr>
        <p:grpSpPr>
          <a:xfrm>
            <a:off x="7848000" y="3502440"/>
            <a:ext cx="244440" cy="250200"/>
            <a:chOff x="7848000" y="3502440"/>
            <a:chExt cx="244440" cy="250200"/>
          </a:xfrm>
        </p:grpSpPr>
        <p:sp>
          <p:nvSpPr>
            <p:cNvPr id="148" name="Freeform 7"/>
            <p:cNvSpPr/>
            <p:nvPr/>
          </p:nvSpPr>
          <p:spPr>
            <a:xfrm>
              <a:off x="7848000" y="350820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9" name="TextBox 8"/>
            <p:cNvSpPr/>
            <p:nvPr/>
          </p:nvSpPr>
          <p:spPr>
            <a:xfrm>
              <a:off x="7871040" y="350244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grpSp>
        <p:nvGrpSpPr>
          <p:cNvPr id="150" name="Group 9"/>
          <p:cNvGrpSpPr/>
          <p:nvPr/>
        </p:nvGrpSpPr>
        <p:grpSpPr>
          <a:xfrm>
            <a:off x="7848000" y="4882680"/>
            <a:ext cx="244440" cy="250200"/>
            <a:chOff x="7848000" y="4882680"/>
            <a:chExt cx="244440" cy="250200"/>
          </a:xfrm>
        </p:grpSpPr>
        <p:sp>
          <p:nvSpPr>
            <p:cNvPr id="151" name="Freeform 10"/>
            <p:cNvSpPr/>
            <p:nvPr/>
          </p:nvSpPr>
          <p:spPr>
            <a:xfrm>
              <a:off x="7848000" y="488844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2" name="TextBox 11"/>
            <p:cNvSpPr/>
            <p:nvPr/>
          </p:nvSpPr>
          <p:spPr>
            <a:xfrm>
              <a:off x="7870680" y="488268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grpSp>
        <p:nvGrpSpPr>
          <p:cNvPr id="153" name="Group 12"/>
          <p:cNvGrpSpPr/>
          <p:nvPr/>
        </p:nvGrpSpPr>
        <p:grpSpPr>
          <a:xfrm>
            <a:off x="7848000" y="6262560"/>
            <a:ext cx="244440" cy="250200"/>
            <a:chOff x="7848000" y="6262560"/>
            <a:chExt cx="244440" cy="250200"/>
          </a:xfrm>
        </p:grpSpPr>
        <p:sp>
          <p:nvSpPr>
            <p:cNvPr id="154" name="Freeform 13"/>
            <p:cNvSpPr/>
            <p:nvPr/>
          </p:nvSpPr>
          <p:spPr>
            <a:xfrm>
              <a:off x="7848000" y="626832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5" name="TextBox 14"/>
            <p:cNvSpPr/>
            <p:nvPr/>
          </p:nvSpPr>
          <p:spPr>
            <a:xfrm>
              <a:off x="7871040" y="626256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grpSp>
        <p:nvGrpSpPr>
          <p:cNvPr id="156" name="Group 15"/>
          <p:cNvGrpSpPr/>
          <p:nvPr/>
        </p:nvGrpSpPr>
        <p:grpSpPr>
          <a:xfrm>
            <a:off x="7848000" y="7642440"/>
            <a:ext cx="244440" cy="250200"/>
            <a:chOff x="7848000" y="7642440"/>
            <a:chExt cx="244440" cy="250200"/>
          </a:xfrm>
        </p:grpSpPr>
        <p:sp>
          <p:nvSpPr>
            <p:cNvPr id="157" name="Freeform 16"/>
            <p:cNvSpPr/>
            <p:nvPr/>
          </p:nvSpPr>
          <p:spPr>
            <a:xfrm>
              <a:off x="7848000" y="7648200"/>
              <a:ext cx="244440" cy="244440"/>
            </a:xfrm>
            <a:custGeom>
              <a:avLst/>
              <a:gdLst>
                <a:gd name="textAreaLeft" fmla="*/ 0 w 244440"/>
                <a:gd name="textAreaRight" fmla="*/ 244800 w 244440"/>
                <a:gd name="textAreaTop" fmla="*/ 0 h 244440"/>
                <a:gd name="textAreaBottom" fmla="*/ 244800 h 24444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8" name="TextBox 17"/>
            <p:cNvSpPr/>
            <p:nvPr/>
          </p:nvSpPr>
          <p:spPr>
            <a:xfrm>
              <a:off x="7870680" y="7642440"/>
              <a:ext cx="198360" cy="22716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59" name="TextBox 18"/>
          <p:cNvSpPr/>
          <p:nvPr/>
        </p:nvSpPr>
        <p:spPr>
          <a:xfrm>
            <a:off x="3820680" y="1628640"/>
            <a:ext cx="9614880" cy="696960"/>
          </a:xfrm>
          <a:prstGeom prst="rect">
            <a:avLst/>
          </a:prstGeom>
          <a:noFill/>
          <a:ln w="0">
            <a:noFill/>
          </a:ln>
        </p:spPr>
        <p:style>
          <a:lnRef idx="0"/>
          <a:fillRef idx="0"/>
          <a:effectRef idx="0"/>
          <a:fontRef idx="minor"/>
        </p:style>
        <p:txBody>
          <a:bodyPr lIns="0" tIns="0" rIns="0" bIns="0" anchor="t">
            <a:spAutoFit/>
          </a:bodyPr>
          <a:p>
            <a:pPr algn="ctr" defTabSz="914400">
              <a:lnSpc>
                <a:spcPts val="4598"/>
              </a:lnSpc>
              <a:tabLst>
                <a:tab pos="0" algn="l"/>
              </a:tabLst>
            </a:pPr>
            <a:r>
              <a:rPr lang="en-US" sz="4030" b="1" u="none" strike="noStrike">
                <a:solidFill>
                  <a:srgbClr val="303870"/>
                </a:solidFill>
                <a:effectLst/>
                <a:uFillTx/>
                <a:latin typeface="Agrandir Wide Bold"/>
                <a:ea typeface="Agrandir Wide Bold"/>
              </a:rPr>
              <a:t>DYNAMIC RISK SCORING</a:t>
            </a:r>
            <a:endParaRPr lang="en-IN" sz="4030" b="0" u="none" strike="noStrike">
              <a:solidFill>
                <a:srgbClr val="000000"/>
              </a:solidFill>
              <a:effectLst/>
              <a:uFillTx/>
              <a:latin typeface="Arial"/>
            </a:endParaRPr>
          </a:p>
        </p:txBody>
      </p:sp>
      <p:sp>
        <p:nvSpPr>
          <p:cNvPr id="160" name="TextBox 19"/>
          <p:cNvSpPr/>
          <p:nvPr/>
        </p:nvSpPr>
        <p:spPr>
          <a:xfrm>
            <a:off x="1562760" y="4057920"/>
            <a:ext cx="5912280" cy="77148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Risk signals are derived from device fingerprint anomalies, geolocation shifts, failed authentication attempts, unusual access times, and behavioral deviations from historical baselines.</a:t>
            </a:r>
            <a:endParaRPr lang="en-IN" sz="1200" b="0" u="none" strike="noStrike">
              <a:solidFill>
                <a:srgbClr val="000000"/>
              </a:solidFill>
              <a:effectLst/>
              <a:uFillTx/>
              <a:latin typeface="Arial"/>
            </a:endParaRPr>
          </a:p>
        </p:txBody>
      </p:sp>
      <p:sp>
        <p:nvSpPr>
          <p:cNvPr id="161" name="TextBox 20"/>
          <p:cNvSpPr/>
          <p:nvPr/>
        </p:nvSpPr>
        <p:spPr>
          <a:xfrm>
            <a:off x="8465040" y="405792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Contextual inputs include network type (trusted/untrusted), time-of-day patterns, user role sensitivity, session duration, and concurrent session detection across devices.</a:t>
            </a:r>
            <a:endParaRPr lang="en-IN" sz="1200" b="0" u="none" strike="noStrike">
              <a:solidFill>
                <a:srgbClr val="000000"/>
              </a:solidFill>
              <a:effectLst/>
              <a:uFillTx/>
              <a:latin typeface="Arial"/>
            </a:endParaRPr>
          </a:p>
        </p:txBody>
      </p:sp>
      <p:sp>
        <p:nvSpPr>
          <p:cNvPr id="162" name="TextBox 21"/>
          <p:cNvSpPr/>
          <p:nvPr/>
        </p:nvSpPr>
        <p:spPr>
          <a:xfrm>
            <a:off x="1562760" y="5438160"/>
            <a:ext cx="5912280" cy="77148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Each risk factor carries a weighted score. Scores are aggregated using a normalized formula, with critical signals such as fingerprint mismatch or geo-impossible travel applying multiplicative penalties.</a:t>
            </a:r>
            <a:endParaRPr lang="en-IN" sz="1200" b="0" u="none" strike="noStrike">
              <a:solidFill>
                <a:srgbClr val="000000"/>
              </a:solidFill>
              <a:effectLst/>
              <a:uFillTx/>
              <a:latin typeface="Arial"/>
            </a:endParaRPr>
          </a:p>
        </p:txBody>
      </p:sp>
      <p:sp>
        <p:nvSpPr>
          <p:cNvPr id="163" name="TextBox 22"/>
          <p:cNvSpPr/>
          <p:nvPr/>
        </p:nvSpPr>
        <p:spPr>
          <a:xfrm>
            <a:off x="8465040" y="543816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Trust thresholds are defined across four tiers: Low Risk (0–25), Moderate Risk (26–50), High Risk (51–75), and Critical Risk (76–100), each mapped to a specific enforcement policy.</a:t>
            </a:r>
            <a:endParaRPr lang="en-IN" sz="1200" b="0" u="none" strike="noStrike">
              <a:solidFill>
                <a:srgbClr val="000000"/>
              </a:solidFill>
              <a:effectLst/>
              <a:uFillTx/>
              <a:latin typeface="Arial"/>
            </a:endParaRPr>
          </a:p>
        </p:txBody>
      </p:sp>
      <p:sp>
        <p:nvSpPr>
          <p:cNvPr id="164" name="TextBox 23"/>
          <p:cNvSpPr/>
          <p:nvPr/>
        </p:nvSpPr>
        <p:spPr>
          <a:xfrm>
            <a:off x="1562760" y="6818040"/>
            <a:ext cx="5912280" cy="77148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nftables enforces adaptive responses per tier: full access (Low), step-up MFA challenge (Moderate), rate-limit and alert (High), and immediate session block with incident logging (Critical).</a:t>
            </a:r>
            <a:endParaRPr lang="en-IN" sz="1200" b="0" u="none" strike="noStrike">
              <a:solidFill>
                <a:srgbClr val="000000"/>
              </a:solidFill>
              <a:effectLst/>
              <a:uFillTx/>
              <a:latin typeface="Arial"/>
            </a:endParaRPr>
          </a:p>
        </p:txBody>
      </p:sp>
      <p:sp>
        <p:nvSpPr>
          <p:cNvPr id="165" name="TextBox 24"/>
          <p:cNvSpPr/>
          <p:nvPr/>
        </p:nvSpPr>
        <p:spPr>
          <a:xfrm>
            <a:off x="8465040" y="681804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Risk scores are not static — they are recalculated at configurable intervals during active sessions, allowing the system to elevate or reduce enforcement levels as context evolves in real time.</a:t>
            </a:r>
            <a:endParaRPr lang="en-IN" sz="1200" b="0" u="none" strike="noStrike">
              <a:solidFill>
                <a:srgbClr val="000000"/>
              </a:solidFill>
              <a:effectLst/>
              <a:uFillTx/>
              <a:latin typeface="Arial"/>
            </a:endParaRPr>
          </a:p>
        </p:txBody>
      </p:sp>
      <p:sp>
        <p:nvSpPr>
          <p:cNvPr id="166" name="TextBox 25"/>
          <p:cNvSpPr/>
          <p:nvPr/>
        </p:nvSpPr>
        <p:spPr>
          <a:xfrm>
            <a:off x="1562760" y="8197920"/>
            <a:ext cx="5912280" cy="771480"/>
          </a:xfrm>
          <a:prstGeom prst="rect">
            <a:avLst/>
          </a:prstGeom>
          <a:noFill/>
          <a:ln w="0">
            <a:noFill/>
          </a:ln>
        </p:spPr>
        <p:style>
          <a:lnRef idx="0"/>
          <a:fillRef idx="0"/>
          <a:effectRef idx="0"/>
          <a:fontRef idx="minor"/>
        </p:style>
        <p:txBody>
          <a:bodyPr lIns="0" tIns="0" rIns="0" bIns="0" anchor="t">
            <a:spAutoFit/>
          </a:bodyPr>
          <a:p>
            <a:pPr algn="r" defTabSz="914400">
              <a:lnSpc>
                <a:spcPts val="2112"/>
              </a:lnSpc>
              <a:tabLst>
                <a:tab pos="0" algn="l"/>
              </a:tabLst>
            </a:pPr>
            <a:r>
              <a:rPr lang="en-US" sz="1200" b="0" u="none" strike="noStrike">
                <a:solidFill>
                  <a:srgbClr val="303870"/>
                </a:solidFill>
                <a:effectLst/>
                <a:uFillTx/>
                <a:latin typeface="Nunito"/>
                <a:ea typeface="Nunito"/>
              </a:rPr>
              <a:t>All computed risk scores, contributing signals, and triggered actions are persisted in PostgreSQL for audit trails, enabling retrospective analysis and ML model retraining over time.</a:t>
            </a:r>
            <a:endParaRPr lang="en-IN" sz="1200" b="0" u="none" strike="noStrike">
              <a:solidFill>
                <a:srgbClr val="000000"/>
              </a:solidFill>
              <a:effectLst/>
              <a:uFillTx/>
              <a:latin typeface="Arial"/>
            </a:endParaRPr>
          </a:p>
        </p:txBody>
      </p:sp>
      <p:sp>
        <p:nvSpPr>
          <p:cNvPr id="167" name="TextBox 26"/>
          <p:cNvSpPr/>
          <p:nvPr/>
        </p:nvSpPr>
        <p:spPr>
          <a:xfrm>
            <a:off x="8465040" y="8197920"/>
            <a:ext cx="7228080" cy="50472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An ML-based anomaly detection layer supplements rule-based scoring by identifying subtle behavioral patterns that static rules may miss, improving detection accuracy for zero-day threats.</a:t>
            </a:r>
            <a:endParaRPr lang="en-IN" sz="1200" b="0" u="none" strike="noStrike">
              <a:solidFill>
                <a:srgbClr val="000000"/>
              </a:solidFill>
              <a:effectLst/>
              <a:uFillTx/>
              <a:latin typeface="Arial"/>
            </a:endParaRPr>
          </a:p>
        </p:txBody>
      </p:sp>
      <p:sp>
        <p:nvSpPr>
          <p:cNvPr id="168" name="TextBox 27"/>
          <p:cNvSpPr/>
          <p:nvPr/>
        </p:nvSpPr>
        <p:spPr>
          <a:xfrm>
            <a:off x="1562760" y="333828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Risk Signals &amp; Inputs</a:t>
            </a:r>
            <a:endParaRPr lang="en-IN" sz="2830" b="0" u="none" strike="noStrike">
              <a:solidFill>
                <a:srgbClr val="000000"/>
              </a:solidFill>
              <a:effectLst/>
              <a:uFillTx/>
              <a:latin typeface="Arial"/>
            </a:endParaRPr>
          </a:p>
        </p:txBody>
      </p:sp>
      <p:sp>
        <p:nvSpPr>
          <p:cNvPr id="169" name="TextBox 28"/>
          <p:cNvSpPr/>
          <p:nvPr/>
        </p:nvSpPr>
        <p:spPr>
          <a:xfrm>
            <a:off x="8465040" y="333828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Contextual Input Factors</a:t>
            </a:r>
            <a:endParaRPr lang="en-IN" sz="2830" b="0" u="none" strike="noStrike">
              <a:solidFill>
                <a:srgbClr val="000000"/>
              </a:solidFill>
              <a:effectLst/>
              <a:uFillTx/>
              <a:latin typeface="Arial"/>
            </a:endParaRPr>
          </a:p>
        </p:txBody>
      </p:sp>
      <p:sp>
        <p:nvSpPr>
          <p:cNvPr id="170" name="TextBox 29"/>
          <p:cNvSpPr/>
          <p:nvPr/>
        </p:nvSpPr>
        <p:spPr>
          <a:xfrm>
            <a:off x="1562760" y="471816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Scoring Rules &amp; Weights</a:t>
            </a:r>
            <a:endParaRPr lang="en-IN" sz="2830" b="0" u="none" strike="noStrike">
              <a:solidFill>
                <a:srgbClr val="000000"/>
              </a:solidFill>
              <a:effectLst/>
              <a:uFillTx/>
              <a:latin typeface="Arial"/>
            </a:endParaRPr>
          </a:p>
        </p:txBody>
      </p:sp>
      <p:sp>
        <p:nvSpPr>
          <p:cNvPr id="171" name="TextBox 30"/>
          <p:cNvSpPr/>
          <p:nvPr/>
        </p:nvSpPr>
        <p:spPr>
          <a:xfrm>
            <a:off x="8465040" y="471816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Trust Threshold Levels</a:t>
            </a:r>
            <a:endParaRPr lang="en-IN" sz="2830" b="0" u="none" strike="noStrike">
              <a:solidFill>
                <a:srgbClr val="000000"/>
              </a:solidFill>
              <a:effectLst/>
              <a:uFillTx/>
              <a:latin typeface="Arial"/>
            </a:endParaRPr>
          </a:p>
        </p:txBody>
      </p:sp>
      <p:sp>
        <p:nvSpPr>
          <p:cNvPr id="172" name="TextBox 31"/>
          <p:cNvSpPr/>
          <p:nvPr/>
        </p:nvSpPr>
        <p:spPr>
          <a:xfrm>
            <a:off x="1562760" y="609840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Adaptive Response Actions</a:t>
            </a:r>
            <a:endParaRPr lang="en-IN" sz="2830" b="0" u="none" strike="noStrike">
              <a:solidFill>
                <a:srgbClr val="000000"/>
              </a:solidFill>
              <a:effectLst/>
              <a:uFillTx/>
              <a:latin typeface="Arial"/>
            </a:endParaRPr>
          </a:p>
        </p:txBody>
      </p:sp>
      <p:sp>
        <p:nvSpPr>
          <p:cNvPr id="173" name="TextBox 32"/>
          <p:cNvSpPr/>
          <p:nvPr/>
        </p:nvSpPr>
        <p:spPr>
          <a:xfrm>
            <a:off x="8465040" y="609840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Continuous Reassessment</a:t>
            </a:r>
            <a:endParaRPr lang="en-IN" sz="2830" b="0" u="none" strike="noStrike">
              <a:solidFill>
                <a:srgbClr val="000000"/>
              </a:solidFill>
              <a:effectLst/>
              <a:uFillTx/>
              <a:latin typeface="Arial"/>
            </a:endParaRPr>
          </a:p>
        </p:txBody>
      </p:sp>
      <p:sp>
        <p:nvSpPr>
          <p:cNvPr id="174" name="TextBox 33"/>
          <p:cNvSpPr/>
          <p:nvPr/>
        </p:nvSpPr>
        <p:spPr>
          <a:xfrm>
            <a:off x="1562760" y="7478280"/>
            <a:ext cx="5912280" cy="470520"/>
          </a:xfrm>
          <a:prstGeom prst="rect">
            <a:avLst/>
          </a:prstGeom>
          <a:noFill/>
          <a:ln w="0">
            <a:noFill/>
          </a:ln>
        </p:spPr>
        <p:style>
          <a:lnRef idx="0"/>
          <a:fillRef idx="0"/>
          <a:effectRef idx="0"/>
          <a:fontRef idx="minor"/>
        </p:style>
        <p:txBody>
          <a:bodyPr lIns="0" tIns="0" rIns="0" bIns="0" anchor="t">
            <a:spAutoFit/>
          </a:bodyPr>
          <a:p>
            <a:pPr algn="r" defTabSz="914400">
              <a:lnSpc>
                <a:spcPts val="3971"/>
              </a:lnSpc>
              <a:tabLst>
                <a:tab pos="0" algn="l"/>
              </a:tabLst>
            </a:pPr>
            <a:r>
              <a:rPr lang="en-US" sz="2830" b="1" u="none" strike="noStrike">
                <a:solidFill>
                  <a:srgbClr val="303870"/>
                </a:solidFill>
                <a:effectLst/>
                <a:uFillTx/>
                <a:latin typeface="Nunito Bold"/>
                <a:ea typeface="Nunito Bold"/>
              </a:rPr>
              <a:t>Score Persistence &amp; Audit</a:t>
            </a:r>
            <a:endParaRPr lang="en-IN" sz="2830" b="0" u="none" strike="noStrike">
              <a:solidFill>
                <a:srgbClr val="000000"/>
              </a:solidFill>
              <a:effectLst/>
              <a:uFillTx/>
              <a:latin typeface="Arial"/>
            </a:endParaRPr>
          </a:p>
        </p:txBody>
      </p:sp>
      <p:sp>
        <p:nvSpPr>
          <p:cNvPr id="175" name="TextBox 34"/>
          <p:cNvSpPr/>
          <p:nvPr/>
        </p:nvSpPr>
        <p:spPr>
          <a:xfrm>
            <a:off x="8465040" y="7478280"/>
            <a:ext cx="7228080" cy="470520"/>
          </a:xfrm>
          <a:prstGeom prst="rect">
            <a:avLst/>
          </a:prstGeom>
          <a:noFill/>
          <a:ln w="0">
            <a:noFill/>
          </a:ln>
        </p:spPr>
        <p:style>
          <a:lnRef idx="0"/>
          <a:fillRef idx="0"/>
          <a:effectRef idx="0"/>
          <a:fontRef idx="minor"/>
        </p:style>
        <p:txBody>
          <a:bodyPr lIns="0" tIns="0" rIns="0" bIns="0" anchor="t">
            <a:spAutoFit/>
          </a:bodyPr>
          <a:p>
            <a:pPr defTabSz="914400">
              <a:lnSpc>
                <a:spcPts val="3971"/>
              </a:lnSpc>
              <a:tabLst>
                <a:tab pos="0" algn="l"/>
              </a:tabLst>
            </a:pPr>
            <a:r>
              <a:rPr lang="en-US" sz="2830" b="1" u="none" strike="noStrike">
                <a:solidFill>
                  <a:srgbClr val="303870"/>
                </a:solidFill>
                <a:effectLst/>
                <a:uFillTx/>
                <a:latin typeface="Nunito Bold"/>
                <a:ea typeface="Nunito Bold"/>
              </a:rPr>
              <a:t>ML-Enhanced Scoring</a:t>
            </a:r>
            <a:endParaRPr lang="en-IN" sz="28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176" name="Group 2"/>
          <p:cNvGrpSpPr/>
          <p:nvPr/>
        </p:nvGrpSpPr>
        <p:grpSpPr>
          <a:xfrm>
            <a:off x="17259480" y="-361800"/>
            <a:ext cx="3085920" cy="10648440"/>
            <a:chOff x="17259480" y="-361800"/>
            <a:chExt cx="3085920" cy="10648440"/>
          </a:xfrm>
        </p:grpSpPr>
        <p:sp>
          <p:nvSpPr>
            <p:cNvPr id="177"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78"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79" name="TextBox 5"/>
          <p:cNvSpPr/>
          <p:nvPr/>
        </p:nvSpPr>
        <p:spPr>
          <a:xfrm>
            <a:off x="1028880" y="1471320"/>
            <a:ext cx="9384120" cy="1687680"/>
          </a:xfrm>
          <a:prstGeom prst="rect">
            <a:avLst/>
          </a:prstGeom>
          <a:noFill/>
          <a:ln w="0">
            <a:noFill/>
          </a:ln>
        </p:spPr>
        <p:style>
          <a:lnRef idx="0"/>
          <a:fillRef idx="0"/>
          <a:effectRef idx="0"/>
          <a:fontRef idx="minor"/>
        </p:style>
        <p:txBody>
          <a:bodyPr lIns="0" tIns="0" rIns="0" bIns="0" anchor="t">
            <a:spAutoFit/>
          </a:bodyPr>
          <a:p>
            <a:pPr defTabSz="914400">
              <a:lnSpc>
                <a:spcPts val="6007"/>
              </a:lnSpc>
              <a:tabLst>
                <a:tab pos="0" algn="l"/>
              </a:tabLst>
            </a:pPr>
            <a:r>
              <a:rPr lang="en-US" sz="5270" b="1" u="none" strike="noStrike">
                <a:solidFill>
                  <a:srgbClr val="303870"/>
                </a:solidFill>
                <a:effectLst/>
                <a:uFillTx/>
                <a:latin typeface="Agrandir Wide Bold"/>
                <a:ea typeface="Agrandir Wide Bold"/>
              </a:rPr>
              <a:t>SOA &amp; MICROSERVICES</a:t>
            </a:r>
            <a:endParaRPr lang="en-IN" sz="5270" b="0" u="none" strike="noStrike">
              <a:solidFill>
                <a:srgbClr val="000000"/>
              </a:solidFill>
              <a:effectLst/>
              <a:uFillTx/>
              <a:latin typeface="Arial"/>
            </a:endParaRPr>
          </a:p>
          <a:p>
            <a:pPr defTabSz="914400">
              <a:lnSpc>
                <a:spcPts val="6007"/>
              </a:lnSpc>
              <a:tabLst>
                <a:tab pos="0" algn="l"/>
              </a:tabLst>
            </a:pPr>
            <a:r>
              <a:rPr lang="en-US" sz="5270" b="1" u="none" strike="noStrike">
                <a:solidFill>
                  <a:srgbClr val="303870"/>
                </a:solidFill>
                <a:effectLst/>
                <a:uFillTx/>
                <a:latin typeface="Agrandir Wide Bold"/>
                <a:ea typeface="Agrandir Wide Bold"/>
              </a:rPr>
              <a:t>IMPLEMENTATION</a:t>
            </a:r>
            <a:endParaRPr lang="en-IN" sz="5270" b="0" u="none" strike="noStrike">
              <a:solidFill>
                <a:srgbClr val="000000"/>
              </a:solidFill>
              <a:effectLst/>
              <a:uFillTx/>
              <a:latin typeface="Arial"/>
            </a:endParaRPr>
          </a:p>
        </p:txBody>
      </p:sp>
      <p:sp>
        <p:nvSpPr>
          <p:cNvPr id="180" name="TextBox 6"/>
          <p:cNvSpPr/>
          <p:nvPr/>
        </p:nvSpPr>
        <p:spPr>
          <a:xfrm>
            <a:off x="1031040" y="506772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A centralized API Gateway handles all inbound requests, enforcing authentication, rate limiting, and routing. It acts as the single entry point across all microservices, abstracting internal topology from clients.</a:t>
            </a:r>
            <a:endParaRPr lang="en-IN" sz="1200" b="0" u="none" strike="noStrike">
              <a:solidFill>
                <a:srgbClr val="000000"/>
              </a:solidFill>
              <a:effectLst/>
              <a:uFillTx/>
              <a:latin typeface="Arial"/>
            </a:endParaRPr>
          </a:p>
        </p:txBody>
      </p:sp>
      <p:sp>
        <p:nvSpPr>
          <p:cNvPr id="181" name="TextBox 7"/>
          <p:cNvSpPr/>
          <p:nvPr/>
        </p:nvSpPr>
        <p:spPr>
          <a:xfrm>
            <a:off x="1028880" y="738396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The Registration Service manages the full device onboarding lifecycle — accepting enrollment requests, validating device credentials, persisting device records, and issuing signed registration tokens via a REST interface.</a:t>
            </a:r>
            <a:endParaRPr lang="en-IN" sz="1200" b="0" u="none" strike="noStrike">
              <a:solidFill>
                <a:srgbClr val="000000"/>
              </a:solidFill>
              <a:effectLst/>
              <a:uFillTx/>
              <a:latin typeface="Arial"/>
            </a:endParaRPr>
          </a:p>
        </p:txBody>
      </p:sp>
      <p:sp>
        <p:nvSpPr>
          <p:cNvPr id="182" name="TextBox 8"/>
          <p:cNvSpPr/>
          <p:nvPr/>
        </p:nvSpPr>
        <p:spPr>
          <a:xfrm>
            <a:off x="5806440" y="506772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An isolated microservice extracts and normalizes device fingerprint attributes — hardware identifiers, OS metadata, and behavioral signals — and exposes a scoring API consumed by the Risk Engine downstream.</a:t>
            </a:r>
            <a:endParaRPr lang="en-IN" sz="1200" b="0" u="none" strike="noStrike">
              <a:solidFill>
                <a:srgbClr val="000000"/>
              </a:solidFill>
              <a:effectLst/>
              <a:uFillTx/>
              <a:latin typeface="Arial"/>
            </a:endParaRPr>
          </a:p>
        </p:txBody>
      </p:sp>
      <p:sp>
        <p:nvSpPr>
          <p:cNvPr id="183" name="TextBox 9"/>
          <p:cNvSpPr/>
          <p:nvPr/>
        </p:nvSpPr>
        <p:spPr>
          <a:xfrm>
            <a:off x="5803920" y="7383960"/>
            <a:ext cx="386712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The Risk Engine service aggregates fingerprint scores, anomaly signals, and session history to compute a dynamic risk score per device. It publishes scored events to an internal message bus for downstream consumers.</a:t>
            </a:r>
            <a:endParaRPr lang="en-IN" sz="1200" b="0" u="none" strike="noStrike">
              <a:solidFill>
                <a:srgbClr val="000000"/>
              </a:solidFill>
              <a:effectLst/>
              <a:uFillTx/>
              <a:latin typeface="Arial"/>
            </a:endParaRPr>
          </a:p>
        </p:txBody>
      </p:sp>
      <p:sp>
        <p:nvSpPr>
          <p:cNvPr id="184" name="TextBox 10"/>
          <p:cNvSpPr/>
          <p:nvPr/>
        </p:nvSpPr>
        <p:spPr>
          <a:xfrm>
            <a:off x="10586160" y="5067720"/>
            <a:ext cx="386712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The Access-Control Service subscribes to risk score events and enforces policy decisions — allow, challenge, rate-limit, or block — by updating nftables rules and issuing access tokens with appropriate privilege scopes.</a:t>
            </a:r>
            <a:endParaRPr lang="en-IN" sz="1200" b="0" u="none" strike="noStrike">
              <a:solidFill>
                <a:srgbClr val="000000"/>
              </a:solidFill>
              <a:effectLst/>
              <a:uFillTx/>
              <a:latin typeface="Arial"/>
            </a:endParaRPr>
          </a:p>
        </p:txBody>
      </p:sp>
      <p:sp>
        <p:nvSpPr>
          <p:cNvPr id="185" name="TextBox 11"/>
          <p:cNvSpPr/>
          <p:nvPr/>
        </p:nvSpPr>
        <p:spPr>
          <a:xfrm>
            <a:off x="10584000" y="7383960"/>
            <a:ext cx="4446360" cy="1038240"/>
          </a:xfrm>
          <a:prstGeom prst="rect">
            <a:avLst/>
          </a:prstGeom>
          <a:noFill/>
          <a:ln w="0">
            <a:noFill/>
          </a:ln>
        </p:spPr>
        <p:style>
          <a:lnRef idx="0"/>
          <a:fillRef idx="0"/>
          <a:effectRef idx="0"/>
          <a:fontRef idx="minor"/>
        </p:style>
        <p:txBody>
          <a:bodyPr lIns="0" tIns="0" rIns="0" bIns="0" anchor="t">
            <a:spAutoFit/>
          </a:bodyPr>
          <a:p>
            <a:pPr defTabSz="914400">
              <a:lnSpc>
                <a:spcPts val="2112"/>
              </a:lnSpc>
              <a:tabLst>
                <a:tab pos="0" algn="l"/>
              </a:tabLst>
            </a:pPr>
            <a:r>
              <a:rPr lang="en-US" sz="1200" b="0" u="none" strike="noStrike">
                <a:solidFill>
                  <a:srgbClr val="303870"/>
                </a:solidFill>
                <a:effectLst/>
                <a:uFillTx/>
                <a:latin typeface="Nunito"/>
                <a:ea typeface="Nunito"/>
              </a:rPr>
              <a:t>A dedicated Audit Service captures structured logs from all service interactions, storing immutable event records in PostgreSQL. Grafana dashboards provide real-time observability across service boundaries and access decisions.</a:t>
            </a:r>
            <a:endParaRPr lang="en-IN" sz="1200" b="0" u="none" strike="noStrike">
              <a:solidFill>
                <a:srgbClr val="000000"/>
              </a:solidFill>
              <a:effectLst/>
              <a:uFillTx/>
              <a:latin typeface="Arial"/>
            </a:endParaRPr>
          </a:p>
        </p:txBody>
      </p:sp>
      <p:sp>
        <p:nvSpPr>
          <p:cNvPr id="186" name="TextBox 12"/>
          <p:cNvSpPr/>
          <p:nvPr/>
        </p:nvSpPr>
        <p:spPr>
          <a:xfrm>
            <a:off x="1031040" y="433872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API Gateway Service</a:t>
            </a:r>
            <a:endParaRPr lang="en-IN" sz="2810" b="0" u="none" strike="noStrike">
              <a:solidFill>
                <a:srgbClr val="000000"/>
              </a:solidFill>
              <a:effectLst/>
              <a:uFillTx/>
              <a:latin typeface="Arial"/>
            </a:endParaRPr>
          </a:p>
        </p:txBody>
      </p:sp>
      <p:sp>
        <p:nvSpPr>
          <p:cNvPr id="187" name="TextBox 13"/>
          <p:cNvSpPr/>
          <p:nvPr/>
        </p:nvSpPr>
        <p:spPr>
          <a:xfrm>
            <a:off x="1028880" y="665460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Registration Service</a:t>
            </a:r>
            <a:endParaRPr lang="en-IN" sz="2810" b="0" u="none" strike="noStrike">
              <a:solidFill>
                <a:srgbClr val="000000"/>
              </a:solidFill>
              <a:effectLst/>
              <a:uFillTx/>
              <a:latin typeface="Arial"/>
            </a:endParaRPr>
          </a:p>
        </p:txBody>
      </p:sp>
      <p:sp>
        <p:nvSpPr>
          <p:cNvPr id="188" name="TextBox 14"/>
          <p:cNvSpPr/>
          <p:nvPr/>
        </p:nvSpPr>
        <p:spPr>
          <a:xfrm>
            <a:off x="5806440" y="433872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Fingerprint Service</a:t>
            </a:r>
            <a:endParaRPr lang="en-IN" sz="2810" b="0" u="none" strike="noStrike">
              <a:solidFill>
                <a:srgbClr val="000000"/>
              </a:solidFill>
              <a:effectLst/>
              <a:uFillTx/>
              <a:latin typeface="Arial"/>
            </a:endParaRPr>
          </a:p>
        </p:txBody>
      </p:sp>
      <p:sp>
        <p:nvSpPr>
          <p:cNvPr id="189" name="TextBox 15"/>
          <p:cNvSpPr/>
          <p:nvPr/>
        </p:nvSpPr>
        <p:spPr>
          <a:xfrm>
            <a:off x="5803920" y="665460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Risk Engine Service</a:t>
            </a:r>
            <a:endParaRPr lang="en-IN" sz="2810" b="0" u="none" strike="noStrike">
              <a:solidFill>
                <a:srgbClr val="000000"/>
              </a:solidFill>
              <a:effectLst/>
              <a:uFillTx/>
              <a:latin typeface="Arial"/>
            </a:endParaRPr>
          </a:p>
        </p:txBody>
      </p:sp>
      <p:sp>
        <p:nvSpPr>
          <p:cNvPr id="190" name="TextBox 16"/>
          <p:cNvSpPr/>
          <p:nvPr/>
        </p:nvSpPr>
        <p:spPr>
          <a:xfrm>
            <a:off x="10586160" y="433872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Access-Control Service</a:t>
            </a:r>
            <a:endParaRPr lang="en-IN" sz="2810" b="0" u="none" strike="noStrike">
              <a:solidFill>
                <a:srgbClr val="000000"/>
              </a:solidFill>
              <a:effectLst/>
              <a:uFillTx/>
              <a:latin typeface="Arial"/>
            </a:endParaRPr>
          </a:p>
        </p:txBody>
      </p:sp>
      <p:sp>
        <p:nvSpPr>
          <p:cNvPr id="191" name="TextBox 17"/>
          <p:cNvSpPr/>
          <p:nvPr/>
        </p:nvSpPr>
        <p:spPr>
          <a:xfrm>
            <a:off x="10584000" y="6654600"/>
            <a:ext cx="4446360" cy="480960"/>
          </a:xfrm>
          <a:prstGeom prst="rect">
            <a:avLst/>
          </a:prstGeom>
          <a:noFill/>
          <a:ln w="0">
            <a:noFill/>
          </a:ln>
        </p:spPr>
        <p:style>
          <a:lnRef idx="0"/>
          <a:fillRef idx="0"/>
          <a:effectRef idx="0"/>
          <a:fontRef idx="minor"/>
        </p:style>
        <p:txBody>
          <a:bodyPr lIns="0" tIns="0" rIns="0" bIns="0" anchor="t">
            <a:spAutoFit/>
          </a:bodyPr>
          <a:p>
            <a:pPr defTabSz="914400">
              <a:lnSpc>
                <a:spcPts val="3926"/>
              </a:lnSpc>
              <a:tabLst>
                <a:tab pos="0" algn="l"/>
              </a:tabLst>
            </a:pPr>
            <a:r>
              <a:rPr lang="en-US" sz="2810" b="1" u="none" strike="noStrike">
                <a:solidFill>
                  <a:srgbClr val="303870"/>
                </a:solidFill>
                <a:effectLst/>
                <a:uFillTx/>
                <a:latin typeface="Nunito Bold"/>
                <a:ea typeface="Nunito Bold"/>
              </a:rPr>
              <a:t>Audit &amp; Logging Service</a:t>
            </a:r>
            <a:endParaRPr lang="en-IN" sz="281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192" name="Group 2"/>
          <p:cNvGrpSpPr/>
          <p:nvPr/>
        </p:nvGrpSpPr>
        <p:grpSpPr>
          <a:xfrm>
            <a:off x="17259480" y="-361800"/>
            <a:ext cx="3085920" cy="10648440"/>
            <a:chOff x="17259480" y="-361800"/>
            <a:chExt cx="3085920" cy="10648440"/>
          </a:xfrm>
        </p:grpSpPr>
        <p:sp>
          <p:nvSpPr>
            <p:cNvPr id="193"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4"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195" name="TextBox 5"/>
          <p:cNvSpPr/>
          <p:nvPr/>
        </p:nvSpPr>
        <p:spPr>
          <a:xfrm>
            <a:off x="1028880" y="2757240"/>
            <a:ext cx="7761600" cy="2449440"/>
          </a:xfrm>
          <a:prstGeom prst="rect">
            <a:avLst/>
          </a:prstGeom>
          <a:noFill/>
          <a:ln w="0">
            <a:noFill/>
          </a:ln>
        </p:spPr>
        <p:style>
          <a:lnRef idx="0"/>
          <a:fillRef idx="0"/>
          <a:effectRef idx="0"/>
          <a:fontRef idx="minor"/>
        </p:style>
        <p:txBody>
          <a:bodyPr lIns="0" tIns="0" rIns="0" bIns="0" anchor="t">
            <a:spAutoFit/>
          </a:bodyPr>
          <a:p>
            <a:pPr defTabSz="914400">
              <a:lnSpc>
                <a:spcPts val="6004"/>
              </a:lnSpc>
              <a:tabLst>
                <a:tab pos="0" algn="l"/>
              </a:tabLst>
            </a:pPr>
            <a:r>
              <a:rPr lang="en-US" sz="5260" b="1" u="none" strike="noStrike">
                <a:solidFill>
                  <a:srgbClr val="303870"/>
                </a:solidFill>
                <a:effectLst/>
                <a:uFillTx/>
                <a:latin typeface="Agrandir Wide Bold"/>
                <a:ea typeface="Agrandir Wide Bold"/>
              </a:rPr>
              <a:t>API COMMUNICATION &amp; DATA FLOW</a:t>
            </a:r>
            <a:endParaRPr lang="en-IN" sz="5260" b="0" u="none" strike="noStrike">
              <a:solidFill>
                <a:srgbClr val="000000"/>
              </a:solidFill>
              <a:effectLst/>
              <a:uFillTx/>
              <a:latin typeface="Arial"/>
            </a:endParaRPr>
          </a:p>
        </p:txBody>
      </p:sp>
      <p:sp>
        <p:nvSpPr>
          <p:cNvPr id="196" name="TextBox 6"/>
          <p:cNvSpPr/>
          <p:nvPr/>
        </p:nvSpPr>
        <p:spPr>
          <a:xfrm>
            <a:off x="1028880" y="5602320"/>
            <a:ext cx="7761600" cy="2437560"/>
          </a:xfrm>
          <a:prstGeom prst="rect">
            <a:avLst/>
          </a:prstGeom>
          <a:noFill/>
          <a:ln w="0">
            <a:noFill/>
          </a:ln>
        </p:spPr>
        <p:style>
          <a:lnRef idx="0"/>
          <a:fillRef idx="0"/>
          <a:effectRef idx="0"/>
          <a:fontRef idx="minor"/>
        </p:style>
        <p:txBody>
          <a:bodyPr lIns="0" tIns="0" rIns="0" bIns="0" anchor="t">
            <a:spAutoFit/>
          </a:bodyPr>
          <a:p>
            <a:pPr marL="348480" lvl="1" indent="-174240" defTabSz="914400">
              <a:lnSpc>
                <a:spcPts val="2840"/>
              </a:lnSpc>
              <a:buClr>
                <a:srgbClr val="303870"/>
              </a:buClr>
              <a:buFont typeface="Arial"/>
              <a:buChar char="•"/>
            </a:pPr>
            <a:r>
              <a:rPr lang="en-US" sz="1620" b="0" u="none" strike="noStrike">
                <a:solidFill>
                  <a:srgbClr val="303870"/>
                </a:solidFill>
                <a:effectLst/>
                <a:uFillTx/>
                <a:latin typeface="Nunito"/>
                <a:ea typeface="Nunito"/>
              </a:rPr>
              <a:t>REST Request Flow: Client sends authenticated requests via API Gateway with JWT bearer tokens and device fingerprint headers for identity verification.</a:t>
            </a:r>
            <a:endParaRPr lang="en-IN" sz="1620" b="0" u="none" strike="noStrike">
              <a:solidFill>
                <a:srgbClr val="000000"/>
              </a:solidFill>
              <a:effectLst/>
              <a:uFillTx/>
              <a:latin typeface="Arial"/>
            </a:endParaRPr>
          </a:p>
          <a:p>
            <a:pPr marL="348480" lvl="1" indent="-174240" defTabSz="914400">
              <a:lnSpc>
                <a:spcPts val="2840"/>
              </a:lnSpc>
              <a:buClr>
                <a:srgbClr val="303870"/>
              </a:buClr>
              <a:buFont typeface="Arial"/>
              <a:buChar char="•"/>
            </a:pPr>
            <a:r>
              <a:rPr lang="en-US" sz="1620" b="0" u="none" strike="noStrike">
                <a:solidFill>
                  <a:srgbClr val="303870"/>
                </a:solidFill>
                <a:effectLst/>
                <a:uFillTx/>
                <a:latin typeface="Nunito"/>
                <a:ea typeface="Nunito"/>
              </a:rPr>
              <a:t>Service-to-Service: Gateway routes to Auth, Risk, and Registration microservices using internal REST calls with signed payloads and correlation IDs.</a:t>
            </a:r>
            <a:endParaRPr lang="en-IN" sz="1620" b="0" u="none" strike="noStrike">
              <a:solidFill>
                <a:srgbClr val="000000"/>
              </a:solidFill>
              <a:effectLst/>
              <a:uFillTx/>
              <a:latin typeface="Arial"/>
            </a:endParaRPr>
          </a:p>
          <a:p>
            <a:pPr marL="348480" lvl="1" indent="-174240" defTabSz="914400">
              <a:lnSpc>
                <a:spcPts val="2840"/>
              </a:lnSpc>
              <a:buClr>
                <a:srgbClr val="303870"/>
              </a:buClr>
              <a:buFont typeface="Arial"/>
              <a:buChar char="•"/>
            </a:pPr>
            <a:r>
              <a:rPr lang="en-US" sz="1620" b="0" u="none" strike="noStrike">
                <a:solidFill>
                  <a:srgbClr val="303870"/>
                </a:solidFill>
                <a:effectLst/>
                <a:uFillTx/>
                <a:latin typeface="Nunito"/>
                <a:ea typeface="Nunito"/>
              </a:rPr>
              <a:t>Response Outcomes: Services return structured JSON responses including access decisions, risk scores, and session tokens back through the gateway to the client.</a:t>
            </a:r>
            <a:endParaRPr lang="en-IN" sz="1620" b="0" u="none" strike="noStrike">
              <a:solidFill>
                <a:srgbClr val="000000"/>
              </a:solidFill>
              <a:effectLst/>
              <a:uFillTx/>
              <a:latin typeface="Arial"/>
            </a:endParaRPr>
          </a:p>
        </p:txBody>
      </p:sp>
      <p:grpSp>
        <p:nvGrpSpPr>
          <p:cNvPr id="197" name="Group 7"/>
          <p:cNvGrpSpPr/>
          <p:nvPr/>
        </p:nvGrpSpPr>
        <p:grpSpPr>
          <a:xfrm>
            <a:off x="9263520" y="1074240"/>
            <a:ext cx="3316680" cy="3100680"/>
            <a:chOff x="9263520" y="1074240"/>
            <a:chExt cx="3316680" cy="3100680"/>
          </a:xfrm>
        </p:grpSpPr>
        <p:sp>
          <p:nvSpPr>
            <p:cNvPr id="198" name="Freeform 8"/>
            <p:cNvSpPr/>
            <p:nvPr/>
          </p:nvSpPr>
          <p:spPr>
            <a:xfrm>
              <a:off x="9263520" y="1074240"/>
              <a:ext cx="3316680" cy="3100680"/>
            </a:xfrm>
            <a:custGeom>
              <a:avLst/>
              <a:gdLst>
                <a:gd name="textAreaLeft" fmla="*/ 0 w 3316680"/>
                <a:gd name="textAreaRight" fmla="*/ 3317040 w 3316680"/>
                <a:gd name="textAreaTop" fmla="*/ 0 h 3100680"/>
                <a:gd name="textAreaBottom" fmla="*/ 3101040 h 3100680"/>
              </a:gdLst>
              <a:ahLst/>
              <a:cxnLst/>
              <a:rect l="textAreaLeft" t="textAreaTop" r="textAreaRight" b="textAreaBottom"/>
              <a:pathLst>
                <a:path w="513898" h="480415">
                  <a:moveTo>
                    <a:pt x="0" y="0"/>
                  </a:moveTo>
                  <a:lnTo>
                    <a:pt x="513898" y="0"/>
                  </a:lnTo>
                  <a:lnTo>
                    <a:pt x="513898" y="480415"/>
                  </a:lnTo>
                  <a:lnTo>
                    <a:pt x="0" y="480415"/>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grpSp>
        <p:nvGrpSpPr>
          <p:cNvPr id="199" name="Group 9"/>
          <p:cNvGrpSpPr/>
          <p:nvPr/>
        </p:nvGrpSpPr>
        <p:grpSpPr>
          <a:xfrm>
            <a:off x="9263520" y="5379480"/>
            <a:ext cx="3316680" cy="3100680"/>
            <a:chOff x="9263520" y="5379480"/>
            <a:chExt cx="3316680" cy="3100680"/>
          </a:xfrm>
        </p:grpSpPr>
        <p:sp>
          <p:nvSpPr>
            <p:cNvPr id="200" name="Freeform 10"/>
            <p:cNvSpPr/>
            <p:nvPr/>
          </p:nvSpPr>
          <p:spPr>
            <a:xfrm>
              <a:off x="9263520" y="5379480"/>
              <a:ext cx="3316680" cy="3100680"/>
            </a:xfrm>
            <a:custGeom>
              <a:avLst/>
              <a:gdLst>
                <a:gd name="textAreaLeft" fmla="*/ 0 w 3316680"/>
                <a:gd name="textAreaRight" fmla="*/ 3317040 w 3316680"/>
                <a:gd name="textAreaTop" fmla="*/ 0 h 3100680"/>
                <a:gd name="textAreaBottom" fmla="*/ 3101040 h 3100680"/>
              </a:gdLst>
              <a:ahLst/>
              <a:cxnLst/>
              <a:rect l="textAreaLeft" t="textAreaTop" r="textAreaRight" b="textAreaBottom"/>
              <a:pathLst>
                <a:path w="513898" h="480415">
                  <a:moveTo>
                    <a:pt x="0" y="0"/>
                  </a:moveTo>
                  <a:lnTo>
                    <a:pt x="513898" y="0"/>
                  </a:lnTo>
                  <a:lnTo>
                    <a:pt x="513898" y="480415"/>
                  </a:lnTo>
                  <a:lnTo>
                    <a:pt x="0" y="480415"/>
                  </a:lnTo>
                  <a:close/>
                </a:path>
              </a:pathLst>
            </a:custGeom>
            <a:blipFill rotWithShape="0">
              <a:blip r:embed="rId2"/>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grpSp>
        <p:nvGrpSpPr>
          <p:cNvPr id="201" name="Group 11"/>
          <p:cNvGrpSpPr/>
          <p:nvPr/>
        </p:nvGrpSpPr>
        <p:grpSpPr>
          <a:xfrm>
            <a:off x="12912120" y="1074240"/>
            <a:ext cx="3316680" cy="3100680"/>
            <a:chOff x="12912120" y="1074240"/>
            <a:chExt cx="3316680" cy="3100680"/>
          </a:xfrm>
        </p:grpSpPr>
        <p:sp>
          <p:nvSpPr>
            <p:cNvPr id="202" name="Freeform 12"/>
            <p:cNvSpPr/>
            <p:nvPr/>
          </p:nvSpPr>
          <p:spPr>
            <a:xfrm>
              <a:off x="12912120" y="1074240"/>
              <a:ext cx="3316680" cy="3100680"/>
            </a:xfrm>
            <a:custGeom>
              <a:avLst/>
              <a:gdLst>
                <a:gd name="textAreaLeft" fmla="*/ 0 w 3316680"/>
                <a:gd name="textAreaRight" fmla="*/ 3317040 w 3316680"/>
                <a:gd name="textAreaTop" fmla="*/ 0 h 3100680"/>
                <a:gd name="textAreaBottom" fmla="*/ 3101040 h 3100680"/>
              </a:gdLst>
              <a:ahLst/>
              <a:cxnLst/>
              <a:rect l="textAreaLeft" t="textAreaTop" r="textAreaRight" b="textAreaBottom"/>
              <a:pathLst>
                <a:path w="513898" h="480415">
                  <a:moveTo>
                    <a:pt x="0" y="0"/>
                  </a:moveTo>
                  <a:lnTo>
                    <a:pt x="513898" y="0"/>
                  </a:lnTo>
                  <a:lnTo>
                    <a:pt x="513898" y="480415"/>
                  </a:lnTo>
                  <a:lnTo>
                    <a:pt x="0" y="480415"/>
                  </a:lnTo>
                  <a:close/>
                </a:path>
              </a:pathLst>
            </a:custGeom>
            <a:blipFill rotWithShape="0">
              <a:blip r:embed="rId3"/>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grpSp>
        <p:nvGrpSpPr>
          <p:cNvPr id="203" name="Group 13"/>
          <p:cNvGrpSpPr/>
          <p:nvPr/>
        </p:nvGrpSpPr>
        <p:grpSpPr>
          <a:xfrm>
            <a:off x="12912120" y="5379480"/>
            <a:ext cx="3316680" cy="3100680"/>
            <a:chOff x="12912120" y="5379480"/>
            <a:chExt cx="3316680" cy="3100680"/>
          </a:xfrm>
        </p:grpSpPr>
        <p:sp>
          <p:nvSpPr>
            <p:cNvPr id="204" name="Freeform 14"/>
            <p:cNvSpPr/>
            <p:nvPr/>
          </p:nvSpPr>
          <p:spPr>
            <a:xfrm>
              <a:off x="12912120" y="5379480"/>
              <a:ext cx="3316680" cy="3100680"/>
            </a:xfrm>
            <a:custGeom>
              <a:avLst/>
              <a:gdLst>
                <a:gd name="textAreaLeft" fmla="*/ 0 w 3316680"/>
                <a:gd name="textAreaRight" fmla="*/ 3317040 w 3316680"/>
                <a:gd name="textAreaTop" fmla="*/ 0 h 3100680"/>
                <a:gd name="textAreaBottom" fmla="*/ 3101040 h 3100680"/>
              </a:gdLst>
              <a:ahLst/>
              <a:cxnLst/>
              <a:rect l="textAreaLeft" t="textAreaTop" r="textAreaRight" b="textAreaBottom"/>
              <a:pathLst>
                <a:path w="513898" h="480415">
                  <a:moveTo>
                    <a:pt x="0" y="0"/>
                  </a:moveTo>
                  <a:lnTo>
                    <a:pt x="513898" y="0"/>
                  </a:lnTo>
                  <a:lnTo>
                    <a:pt x="513898" y="480415"/>
                  </a:lnTo>
                  <a:lnTo>
                    <a:pt x="0" y="480415"/>
                  </a:lnTo>
                  <a:close/>
                </a:path>
              </a:pathLst>
            </a:custGeom>
            <a:blipFill rotWithShape="0">
              <a:blip r:embed="rId4"/>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05" name="TextBox 15"/>
          <p:cNvSpPr/>
          <p:nvPr/>
        </p:nvSpPr>
        <p:spPr>
          <a:xfrm>
            <a:off x="9263520" y="4356720"/>
            <a:ext cx="3316680" cy="464040"/>
          </a:xfrm>
          <a:prstGeom prst="rect">
            <a:avLst/>
          </a:prstGeom>
          <a:noFill/>
          <a:ln w="0">
            <a:noFill/>
          </a:ln>
        </p:spPr>
        <p:style>
          <a:lnRef idx="0"/>
          <a:fillRef idx="0"/>
          <a:effectRef idx="0"/>
          <a:fontRef idx="minor"/>
        </p:style>
        <p:txBody>
          <a:bodyPr lIns="0" tIns="0" rIns="0" bIns="0" anchor="t">
            <a:spAutoFit/>
          </a:bodyPr>
          <a:p>
            <a:pPr algn="ctr" defTabSz="914400">
              <a:lnSpc>
                <a:spcPts val="3813"/>
              </a:lnSpc>
              <a:tabLst>
                <a:tab pos="0" algn="l"/>
              </a:tabLst>
            </a:pPr>
            <a:r>
              <a:rPr lang="en-US" sz="2720" b="1" u="none" strike="noStrike">
                <a:solidFill>
                  <a:srgbClr val="303870"/>
                </a:solidFill>
                <a:effectLst/>
                <a:uFillTx/>
                <a:latin typeface="Nunito Bold"/>
                <a:ea typeface="Nunito Bold"/>
              </a:rPr>
              <a:t>API Gateway Routes</a:t>
            </a:r>
            <a:endParaRPr lang="en-IN" sz="2720" b="0" u="none" strike="noStrike">
              <a:solidFill>
                <a:srgbClr val="000000"/>
              </a:solidFill>
              <a:effectLst/>
              <a:uFillTx/>
              <a:latin typeface="Arial"/>
            </a:endParaRPr>
          </a:p>
        </p:txBody>
      </p:sp>
      <p:sp>
        <p:nvSpPr>
          <p:cNvPr id="206" name="TextBox 16"/>
          <p:cNvSpPr/>
          <p:nvPr/>
        </p:nvSpPr>
        <p:spPr>
          <a:xfrm>
            <a:off x="9263520" y="8665920"/>
            <a:ext cx="3316680" cy="464040"/>
          </a:xfrm>
          <a:prstGeom prst="rect">
            <a:avLst/>
          </a:prstGeom>
          <a:noFill/>
          <a:ln w="0">
            <a:noFill/>
          </a:ln>
        </p:spPr>
        <p:style>
          <a:lnRef idx="0"/>
          <a:fillRef idx="0"/>
          <a:effectRef idx="0"/>
          <a:fontRef idx="minor"/>
        </p:style>
        <p:txBody>
          <a:bodyPr lIns="0" tIns="0" rIns="0" bIns="0" anchor="t">
            <a:spAutoFit/>
          </a:bodyPr>
          <a:p>
            <a:pPr algn="ctr" defTabSz="914400">
              <a:lnSpc>
                <a:spcPts val="3813"/>
              </a:lnSpc>
              <a:tabLst>
                <a:tab pos="0" algn="l"/>
              </a:tabLst>
            </a:pPr>
            <a:r>
              <a:rPr lang="en-US" sz="2720" b="1" u="none" strike="noStrike">
                <a:solidFill>
                  <a:srgbClr val="303870"/>
                </a:solidFill>
                <a:effectLst/>
                <a:uFillTx/>
                <a:latin typeface="Nunito Bold"/>
                <a:ea typeface="Nunito Bold"/>
              </a:rPr>
              <a:t>Auth Token Flow</a:t>
            </a:r>
            <a:endParaRPr lang="en-IN" sz="2720" b="0" u="none" strike="noStrike">
              <a:solidFill>
                <a:srgbClr val="000000"/>
              </a:solidFill>
              <a:effectLst/>
              <a:uFillTx/>
              <a:latin typeface="Arial"/>
            </a:endParaRPr>
          </a:p>
        </p:txBody>
      </p:sp>
      <p:sp>
        <p:nvSpPr>
          <p:cNvPr id="207" name="TextBox 17"/>
          <p:cNvSpPr/>
          <p:nvPr/>
        </p:nvSpPr>
        <p:spPr>
          <a:xfrm>
            <a:off x="12912120" y="4356720"/>
            <a:ext cx="3316680" cy="464040"/>
          </a:xfrm>
          <a:prstGeom prst="rect">
            <a:avLst/>
          </a:prstGeom>
          <a:noFill/>
          <a:ln w="0">
            <a:noFill/>
          </a:ln>
        </p:spPr>
        <p:style>
          <a:lnRef idx="0"/>
          <a:fillRef idx="0"/>
          <a:effectRef idx="0"/>
          <a:fontRef idx="minor"/>
        </p:style>
        <p:txBody>
          <a:bodyPr lIns="0" tIns="0" rIns="0" bIns="0" anchor="t">
            <a:spAutoFit/>
          </a:bodyPr>
          <a:p>
            <a:pPr algn="ctr" defTabSz="914400">
              <a:lnSpc>
                <a:spcPts val="3813"/>
              </a:lnSpc>
              <a:tabLst>
                <a:tab pos="0" algn="l"/>
              </a:tabLst>
            </a:pPr>
            <a:r>
              <a:rPr lang="en-US" sz="2720" b="1" u="none" strike="noStrike">
                <a:solidFill>
                  <a:srgbClr val="303870"/>
                </a:solidFill>
                <a:effectLst/>
                <a:uFillTx/>
                <a:latin typeface="Nunito Bold"/>
                <a:ea typeface="Nunito Bold"/>
              </a:rPr>
              <a:t>Request Headers</a:t>
            </a:r>
            <a:endParaRPr lang="en-IN" sz="2720" b="0" u="none" strike="noStrike">
              <a:solidFill>
                <a:srgbClr val="000000"/>
              </a:solidFill>
              <a:effectLst/>
              <a:uFillTx/>
              <a:latin typeface="Arial"/>
            </a:endParaRPr>
          </a:p>
        </p:txBody>
      </p:sp>
      <p:sp>
        <p:nvSpPr>
          <p:cNvPr id="208" name="TextBox 18"/>
          <p:cNvSpPr/>
          <p:nvPr/>
        </p:nvSpPr>
        <p:spPr>
          <a:xfrm>
            <a:off x="12912120" y="8665920"/>
            <a:ext cx="3316680" cy="464040"/>
          </a:xfrm>
          <a:prstGeom prst="rect">
            <a:avLst/>
          </a:prstGeom>
          <a:noFill/>
          <a:ln w="0">
            <a:noFill/>
          </a:ln>
        </p:spPr>
        <p:style>
          <a:lnRef idx="0"/>
          <a:fillRef idx="0"/>
          <a:effectRef idx="0"/>
          <a:fontRef idx="minor"/>
        </p:style>
        <p:txBody>
          <a:bodyPr lIns="0" tIns="0" rIns="0" bIns="0" anchor="t">
            <a:spAutoFit/>
          </a:bodyPr>
          <a:p>
            <a:pPr algn="ctr" defTabSz="914400">
              <a:lnSpc>
                <a:spcPts val="3813"/>
              </a:lnSpc>
              <a:tabLst>
                <a:tab pos="0" algn="l"/>
              </a:tabLst>
            </a:pPr>
            <a:r>
              <a:rPr lang="en-US" sz="2720" b="1" u="none" strike="noStrike">
                <a:solidFill>
                  <a:srgbClr val="303870"/>
                </a:solidFill>
                <a:effectLst/>
                <a:uFillTx/>
                <a:latin typeface="Nunito Bold"/>
                <a:ea typeface="Nunito Bold"/>
              </a:rPr>
              <a:t>Service Response</a:t>
            </a:r>
            <a:endParaRPr lang="en-IN" sz="27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209" name="Group 2"/>
          <p:cNvGrpSpPr/>
          <p:nvPr/>
        </p:nvGrpSpPr>
        <p:grpSpPr>
          <a:xfrm>
            <a:off x="17259480" y="-361800"/>
            <a:ext cx="3085920" cy="10648440"/>
            <a:chOff x="17259480" y="-361800"/>
            <a:chExt cx="3085920" cy="10648440"/>
          </a:xfrm>
        </p:grpSpPr>
        <p:sp>
          <p:nvSpPr>
            <p:cNvPr id="210"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1"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212" name="TextBox 5"/>
          <p:cNvSpPr/>
          <p:nvPr/>
        </p:nvSpPr>
        <p:spPr>
          <a:xfrm>
            <a:off x="1028880" y="2897280"/>
            <a:ext cx="8891640" cy="1278000"/>
          </a:xfrm>
          <a:prstGeom prst="rect">
            <a:avLst/>
          </a:prstGeom>
          <a:noFill/>
          <a:ln w="0">
            <a:noFill/>
          </a:ln>
        </p:spPr>
        <p:style>
          <a:lnRef idx="0"/>
          <a:fillRef idx="0"/>
          <a:effectRef idx="0"/>
          <a:fontRef idx="minor"/>
        </p:style>
        <p:txBody>
          <a:bodyPr lIns="0" tIns="0" rIns="0" bIns="0" anchor="t">
            <a:spAutoFit/>
          </a:bodyPr>
          <a:p>
            <a:pPr defTabSz="914400">
              <a:lnSpc>
                <a:spcPts val="4595"/>
              </a:lnSpc>
              <a:tabLst>
                <a:tab pos="0" algn="l"/>
              </a:tabLst>
            </a:pPr>
            <a:r>
              <a:rPr lang="en-US" sz="4030" b="1" u="none" strike="noStrike">
                <a:solidFill>
                  <a:srgbClr val="303870"/>
                </a:solidFill>
                <a:effectLst/>
                <a:uFillTx/>
                <a:latin typeface="Agrandir Wide Bold"/>
                <a:ea typeface="Agrandir Wide Bold"/>
              </a:rPr>
              <a:t>IMPLEMENTATION &amp; TESTING EVIDENCE</a:t>
            </a:r>
            <a:endParaRPr lang="en-IN" sz="4030" b="0" u="none" strike="noStrike">
              <a:solidFill>
                <a:srgbClr val="000000"/>
              </a:solidFill>
              <a:effectLst/>
              <a:uFillTx/>
              <a:latin typeface="Arial"/>
            </a:endParaRPr>
          </a:p>
        </p:txBody>
      </p:sp>
      <p:sp>
        <p:nvSpPr>
          <p:cNvPr id="213" name="TextBox 6"/>
          <p:cNvSpPr/>
          <p:nvPr/>
        </p:nvSpPr>
        <p:spPr>
          <a:xfrm>
            <a:off x="1028880" y="4576680"/>
            <a:ext cx="8891640" cy="4635000"/>
          </a:xfrm>
          <a:prstGeom prst="rect">
            <a:avLst/>
          </a:prstGeom>
          <a:noFill/>
          <a:ln w="0">
            <a:noFill/>
          </a:ln>
        </p:spPr>
        <p:style>
          <a:lnRef idx="0"/>
          <a:fillRef idx="0"/>
          <a:effectRef idx="0"/>
          <a:fontRef idx="minor"/>
        </p:style>
        <p:txBody>
          <a:bodyPr lIns="0" tIns="0" rIns="0" bIns="0" anchor="t">
            <a:spAutoFit/>
          </a:bodyPr>
          <a:p>
            <a:pPr defTabSz="914400">
              <a:lnSpc>
                <a:spcPts val="2670"/>
              </a:lnSpc>
              <a:tabLst>
                <a:tab pos="0" algn="l"/>
              </a:tabLst>
            </a:pPr>
            <a:r>
              <a:rPr lang="en-US" sz="1510" b="0" u="none" strike="noStrike">
                <a:solidFill>
                  <a:srgbClr val="303870"/>
                </a:solidFill>
                <a:effectLst/>
                <a:uFillTx/>
                <a:latin typeface="Nunito"/>
                <a:ea typeface="Nunito"/>
              </a:rPr>
              <a:t>Implemented Modules: Device registration pipeline (fingerprint capture → hash generation → registry storage), risk scoring engine, and nftables-based access enforcement are operational.</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Test Scenarios &amp; Results:</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 Unit tests: Fingerprint extraction and hash consistency verified across 10 device profiles</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 Integration test: End-to-end registration flow validated — device enrolled, risk score computed, access granted/denied correctly</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 Risk Score Output: Scores ranging 0–100 generated based on IP reputation, port anomalies, and behavioral flags</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 Access Decision Logs: ALLOW/BLOCK decisions logged with timestamp, device ID, and risk threshold breach details</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 Screenshot Placeholders: Dashboard views of Prometheus metrics and Grafana alert panels (to be attached)</a:t>
            </a:r>
            <a:endParaRPr lang="en-IN" sz="1510" b="0" u="none" strike="noStrike">
              <a:solidFill>
                <a:srgbClr val="000000"/>
              </a:solidFill>
              <a:effectLst/>
              <a:uFillTx/>
              <a:latin typeface="Arial"/>
            </a:endParaRPr>
          </a:p>
          <a:p>
            <a:pPr defTabSz="914400">
              <a:lnSpc>
                <a:spcPts val="2670"/>
              </a:lnSpc>
              <a:tabLst>
                <a:tab pos="0" algn="l"/>
              </a:tabLst>
            </a:pPr>
            <a:r>
              <a:rPr lang="en-US" sz="1510" b="0" u="none" strike="noStrike">
                <a:solidFill>
                  <a:srgbClr val="303870"/>
                </a:solidFill>
                <a:effectLst/>
                <a:uFillTx/>
                <a:latin typeface="Nunito"/>
                <a:ea typeface="Nunito"/>
              </a:rPr>
              <a:t>• Known Limitations: ML model accuracy limited by training dataset size; dynamic re-registration on IP change not yet fully automated</a:t>
            </a:r>
            <a:endParaRPr lang="en-IN" sz="1510" b="0" u="none" strike="noStrike">
              <a:solidFill>
                <a:srgbClr val="000000"/>
              </a:solidFill>
              <a:effectLst/>
              <a:uFillTx/>
              <a:latin typeface="Arial"/>
            </a:endParaRPr>
          </a:p>
        </p:txBody>
      </p:sp>
      <p:grpSp>
        <p:nvGrpSpPr>
          <p:cNvPr id="214" name="Group 7"/>
          <p:cNvGrpSpPr/>
          <p:nvPr/>
        </p:nvGrpSpPr>
        <p:grpSpPr>
          <a:xfrm>
            <a:off x="10401120" y="1028880"/>
            <a:ext cx="5833080" cy="8229240"/>
            <a:chOff x="10401120" y="1028880"/>
            <a:chExt cx="5833080" cy="8229240"/>
          </a:xfrm>
        </p:grpSpPr>
        <p:sp>
          <p:nvSpPr>
            <p:cNvPr id="215" name="Freeform 8"/>
            <p:cNvSpPr/>
            <p:nvPr/>
          </p:nvSpPr>
          <p:spPr>
            <a:xfrm>
              <a:off x="10401120" y="1028880"/>
              <a:ext cx="5833080" cy="8229240"/>
            </a:xfrm>
            <a:custGeom>
              <a:avLst/>
              <a:gdLst>
                <a:gd name="textAreaLeft" fmla="*/ 0 w 5833080"/>
                <a:gd name="textAreaRight" fmla="*/ 5833440 w 5833080"/>
                <a:gd name="textAreaTop" fmla="*/ 0 h 8229240"/>
                <a:gd name="textAreaBottom" fmla="*/ 8229600 h 8229240"/>
              </a:gdLst>
              <a:ahLst/>
              <a:cxnLst/>
              <a:rect l="textAreaLeft" t="textAreaTop" r="textAreaRight" b="textAreaBottom"/>
              <a:pathLst>
                <a:path w="903772" h="1274980">
                  <a:moveTo>
                    <a:pt x="0" y="0"/>
                  </a:moveTo>
                  <a:lnTo>
                    <a:pt x="903772" y="0"/>
                  </a:lnTo>
                  <a:lnTo>
                    <a:pt x="903772" y="1274980"/>
                  </a:lnTo>
                  <a:lnTo>
                    <a:pt x="0" y="127498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DE2"/>
        </a:solidFill>
      </p:bgPr>
    </p:bg>
    <p:spTree>
      <p:nvGrpSpPr>
        <p:cNvPr id="1" name=""/>
        <p:cNvGrpSpPr/>
        <p:nvPr/>
      </p:nvGrpSpPr>
      <p:grpSpPr>
        <a:xfrm>
          <a:off x="0" y="0"/>
          <a:ext cx="0" cy="0"/>
          <a:chOff x="0" y="0"/>
          <a:chExt cx="0" cy="0"/>
        </a:xfrm>
      </p:grpSpPr>
      <p:grpSp>
        <p:nvGrpSpPr>
          <p:cNvPr id="216" name="Group 2"/>
          <p:cNvGrpSpPr/>
          <p:nvPr/>
        </p:nvGrpSpPr>
        <p:grpSpPr>
          <a:xfrm>
            <a:off x="17259480" y="-361800"/>
            <a:ext cx="3085920" cy="10648440"/>
            <a:chOff x="17259480" y="-361800"/>
            <a:chExt cx="3085920" cy="10648440"/>
          </a:xfrm>
        </p:grpSpPr>
        <p:sp>
          <p:nvSpPr>
            <p:cNvPr id="217" name="Freeform 3"/>
            <p:cNvSpPr/>
            <p:nvPr/>
          </p:nvSpPr>
          <p:spPr>
            <a:xfrm>
              <a:off x="17259480" y="0"/>
              <a:ext cx="3085920" cy="10286640"/>
            </a:xfrm>
            <a:custGeom>
              <a:avLst/>
              <a:gdLst>
                <a:gd name="textAreaLeft" fmla="*/ 0 w 3085920"/>
                <a:gd name="textAreaRight" fmla="*/ 3086280 w 3085920"/>
                <a:gd name="textAreaTop" fmla="*/ 0 h 10286640"/>
                <a:gd name="textAreaBottom" fmla="*/ 10287000 h 10286640"/>
              </a:gdLst>
              <a:ahLst/>
              <a:cxnLst/>
              <a:rect l="textAreaLeft" t="textAreaTop" r="textAreaRight" b="textAreaBottom"/>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8" name="TextBox 4"/>
            <p:cNvSpPr/>
            <p:nvPr/>
          </p:nvSpPr>
          <p:spPr>
            <a:xfrm>
              <a:off x="17259480" y="-361800"/>
              <a:ext cx="3085920" cy="10648440"/>
            </a:xfrm>
            <a:prstGeom prst="rect">
              <a:avLst/>
            </a:prstGeom>
            <a:noFill/>
            <a:ln w="0">
              <a:noFill/>
            </a:ln>
          </p:spPr>
          <p:style>
            <a:lnRef idx="0"/>
            <a:fillRef idx="0"/>
            <a:effectRef idx="0"/>
            <a:fontRef idx="minor"/>
          </p:style>
          <p:txBody>
            <a:bodyPr lIns="50760" tIns="50760" rIns="50760" bIns="50760" anchor="ctr">
              <a:noAutofit/>
            </a:bodyPr>
            <a:p>
              <a:endParaRPr lang="en-US" sz="1800" b="0" u="none" strike="noStrike">
                <a:solidFill>
                  <a:schemeClr val="dk1"/>
                </a:solidFill>
                <a:effectLst/>
                <a:uFillTx/>
                <a:latin typeface="Calibri"/>
              </a:endParaRPr>
            </a:p>
          </p:txBody>
        </p:sp>
      </p:grpSp>
      <p:sp>
        <p:nvSpPr>
          <p:cNvPr id="219" name="TextBox 5"/>
          <p:cNvSpPr/>
          <p:nvPr/>
        </p:nvSpPr>
        <p:spPr>
          <a:xfrm>
            <a:off x="1028880" y="2897280"/>
            <a:ext cx="8891640" cy="1278000"/>
          </a:xfrm>
          <a:prstGeom prst="rect">
            <a:avLst/>
          </a:prstGeom>
          <a:noFill/>
          <a:ln w="0">
            <a:noFill/>
          </a:ln>
        </p:spPr>
        <p:style>
          <a:lnRef idx="0"/>
          <a:fillRef idx="0"/>
          <a:effectRef idx="0"/>
          <a:fontRef idx="minor"/>
        </p:style>
        <p:txBody>
          <a:bodyPr lIns="0" tIns="0" rIns="0" bIns="0" anchor="t">
            <a:spAutoFit/>
          </a:bodyPr>
          <a:p>
            <a:pPr defTabSz="914400">
              <a:lnSpc>
                <a:spcPts val="4595"/>
              </a:lnSpc>
              <a:tabLst>
                <a:tab pos="0" algn="l"/>
              </a:tabLst>
            </a:pPr>
            <a:r>
              <a:rPr lang="en-US" sz="4030" b="1" u="none" strike="noStrike">
                <a:solidFill>
                  <a:srgbClr val="303870"/>
                </a:solidFill>
                <a:effectLst/>
                <a:uFillTx/>
                <a:latin typeface="Agrandir Wide Bold"/>
                <a:ea typeface="Agrandir Wide Bold"/>
              </a:rPr>
              <a:t>GITHUB REPOSITORY &amp; DOCUMENTATION</a:t>
            </a:r>
            <a:endParaRPr lang="en-IN" sz="4030" b="0" u="none" strike="noStrike">
              <a:solidFill>
                <a:srgbClr val="000000"/>
              </a:solidFill>
              <a:effectLst/>
              <a:uFillTx/>
              <a:latin typeface="Arial"/>
            </a:endParaRPr>
          </a:p>
        </p:txBody>
      </p:sp>
      <p:sp>
        <p:nvSpPr>
          <p:cNvPr id="220" name="TextBox 6"/>
          <p:cNvSpPr/>
          <p:nvPr/>
        </p:nvSpPr>
        <p:spPr>
          <a:xfrm>
            <a:off x="1028880" y="4557600"/>
            <a:ext cx="8891640" cy="4655160"/>
          </a:xfrm>
          <a:prstGeom prst="rect">
            <a:avLst/>
          </a:prstGeom>
          <a:noFill/>
          <a:ln w="0">
            <a:noFill/>
          </a:ln>
        </p:spPr>
        <p:style>
          <a:lnRef idx="0"/>
          <a:fillRef idx="0"/>
          <a:effectRef idx="0"/>
          <a:fontRef idx="minor"/>
        </p:style>
        <p:txBody>
          <a:bodyPr lIns="0" tIns="0" rIns="0" bIns="0" anchor="t">
            <a:spAutoFit/>
          </a:bodyPr>
          <a:p>
            <a:pPr defTabSz="914400">
              <a:lnSpc>
                <a:spcPts val="3115"/>
              </a:lnSpc>
              <a:tabLst>
                <a:tab pos="0" algn="l"/>
              </a:tabLst>
            </a:pPr>
            <a:r>
              <a:rPr lang="en-US" sz="1770" b="0" u="none" strike="noStrike">
                <a:solidFill>
                  <a:srgbClr val="303870"/>
                </a:solidFill>
                <a:effectLst/>
                <a:uFillTx/>
                <a:latin typeface="Nunito"/>
                <a:ea typeface="Nunito"/>
              </a:rPr>
              <a:t>Repository &amp; Documentation Status:</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All project artifacts are organized and hosted on GitHub for reproducibility and peer review.</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 README with project overview, setup instructions, and architecture summary</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 Architecture diagrams: SOA service map, data flow, and risk scoring pipeline</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 API documentation: endpoint specifications, request/response schemas, and authentication flows</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 Setup instructions: Docker Compose, dependency installation, and environment configuration</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 Commit history as evidence of iterative development and milestone progress</a:t>
            </a:r>
            <a:endParaRPr lang="en-IN" sz="1770" b="0" u="none" strike="noStrike">
              <a:solidFill>
                <a:srgbClr val="000000"/>
              </a:solidFill>
              <a:effectLst/>
              <a:uFillTx/>
              <a:latin typeface="Arial"/>
            </a:endParaRPr>
          </a:p>
          <a:p>
            <a:pPr defTabSz="914400">
              <a:lnSpc>
                <a:spcPts val="3115"/>
              </a:lnSpc>
              <a:tabLst>
                <a:tab pos="0" algn="l"/>
              </a:tabLst>
            </a:pPr>
            <a:r>
              <a:rPr lang="en-US" sz="1770" b="0" u="none" strike="noStrike">
                <a:solidFill>
                  <a:srgbClr val="303870"/>
                </a:solidFill>
                <a:effectLst/>
                <a:uFillTx/>
                <a:latin typeface="Nunito"/>
                <a:ea typeface="Nunito"/>
              </a:rPr>
              <a:t>• Proposed future work: federated learning integration, cross-platform device support, and formal security audit</a:t>
            </a:r>
            <a:endParaRPr lang="en-IN" sz="1770" b="0" u="none" strike="noStrike">
              <a:solidFill>
                <a:srgbClr val="000000"/>
              </a:solidFill>
              <a:effectLst/>
              <a:uFillTx/>
              <a:latin typeface="Arial"/>
            </a:endParaRPr>
          </a:p>
        </p:txBody>
      </p:sp>
      <p:grpSp>
        <p:nvGrpSpPr>
          <p:cNvPr id="221" name="Group 7"/>
          <p:cNvGrpSpPr/>
          <p:nvPr/>
        </p:nvGrpSpPr>
        <p:grpSpPr>
          <a:xfrm>
            <a:off x="10401120" y="1028880"/>
            <a:ext cx="5833080" cy="8229240"/>
            <a:chOff x="10401120" y="1028880"/>
            <a:chExt cx="5833080" cy="8229240"/>
          </a:xfrm>
        </p:grpSpPr>
        <p:sp>
          <p:nvSpPr>
            <p:cNvPr id="222" name="Freeform 8"/>
            <p:cNvSpPr/>
            <p:nvPr/>
          </p:nvSpPr>
          <p:spPr>
            <a:xfrm>
              <a:off x="10401120" y="1028880"/>
              <a:ext cx="5833080" cy="8229240"/>
            </a:xfrm>
            <a:custGeom>
              <a:avLst/>
              <a:gdLst>
                <a:gd name="textAreaLeft" fmla="*/ 0 w 5833080"/>
                <a:gd name="textAreaRight" fmla="*/ 5833440 w 5833080"/>
                <a:gd name="textAreaTop" fmla="*/ 0 h 8229240"/>
                <a:gd name="textAreaBottom" fmla="*/ 8229600 h 8229240"/>
              </a:gdLst>
              <a:ahLst/>
              <a:cxnLst/>
              <a:rect l="textAreaLeft" t="textAreaTop" r="textAreaRight" b="textAreaBottom"/>
              <a:pathLst>
                <a:path w="903772" h="1274980">
                  <a:moveTo>
                    <a:pt x="0" y="0"/>
                  </a:moveTo>
                  <a:lnTo>
                    <a:pt x="903772" y="0"/>
                  </a:lnTo>
                  <a:lnTo>
                    <a:pt x="903772" y="1274980"/>
                  </a:lnTo>
                  <a:lnTo>
                    <a:pt x="0" y="127498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45</TotalTime>
  <Application>LibreOffice/26.2.5.2$Linux_X86_64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DAHV6KDHvew</dc:identifier>
  <dc:language>en-IN</dc:language>
  <cp:lastModifiedBy/>
  <dcterms:modified xsi:type="dcterms:W3CDTF">2026-09-22T15:46:03Z</dcterms:modified>
  <cp:revision>3</cp:revision>
  <dc:subject/>
  <dc:title>Secure Device Registration &amp; Access Control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