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4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5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3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presProps" Target="presProps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move the slide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dt" idx="7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 type="ftr" idx="7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PlaceHolder 6"/>
          <p:cNvSpPr>
            <a:spLocks noGrp="1"/>
          </p:cNvSpPr>
          <p:nvPr>
            <p:ph type="sldNum" idx="7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8904558-E5A2-4260-83BC-58238C0C9254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4AA49BC-9C14-42ED-BD74-A29296492626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2B91B7B-22CC-4BDE-B4B8-98CAF0A66E46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480" cy="159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400" cy="4871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480" cy="380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C154E9E-64D6-4355-9FFA-9D7D8D38FDD4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F10D5EE-421B-454A-9807-6588A5820BEA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BF9910A-CE98-4C4C-8372-A0E2E1CF4456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45E6781-15C8-4685-81C4-D6004B45874F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7280" cy="581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2440" cy="581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272AB9B-AC4E-41AE-AA20-9CBD0EC12AD8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FA8335A-D0ED-4008-92E8-46E7534CBC09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3800" cy="285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3800" cy="1498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C013C87-0D0F-4B5D-89A2-D58B7E0B6D09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968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968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13AC49E-4792-4FF9-82C7-0BA3580AC765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592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5920" cy="368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148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1480" cy="368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9E55093-F6EB-4689-9612-C6E4FACEC7E3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638E0E5-68C5-49CF-B980-DE869984D63A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0D825F6-3004-4CCF-A7C5-8C1F08794570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480" cy="159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400" cy="487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480" cy="380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CC985BF-409F-41FF-873F-D836FE5D316B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480" cy="159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400" cy="4871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icon to add picture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480" cy="380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708FEC8-1AD1-4AA6-8116-3215EE2DCC0D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dt" idx="40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ftr" idx="4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0482DDB-F1C4-48F9-8813-EC0E4C008B9A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dt" idx="4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ftr" idx="44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sldNum" idx="45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3FBDF26-7BC2-43EA-9CCE-12C71BD5BFF0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7280" cy="581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2440" cy="581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46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ftr" idx="47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sldNum" idx="48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99DBAE5-7CF5-4E65-A0CC-CACFD1BEA121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dt" idx="49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ftr" idx="50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sldNum" idx="51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1B82D25-4E6D-45BC-9889-146E478309D6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3800" cy="285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3800" cy="1498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dt" idx="52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ftr" idx="53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sldNum" idx="54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C0D200B-AD61-4747-8B8E-49E41719E02D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968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968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dt" idx="55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 type="ftr" idx="56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6"/>
          <p:cNvSpPr>
            <a:spLocks noGrp="1"/>
          </p:cNvSpPr>
          <p:nvPr>
            <p:ph type="sldNum" idx="57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80B6811-2114-4371-BAC7-8B538853F6F9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592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5920" cy="368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148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1480" cy="368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PlaceHolder 6"/>
          <p:cNvSpPr>
            <a:spLocks noGrp="1"/>
          </p:cNvSpPr>
          <p:nvPr>
            <p:ph type="dt" idx="58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7"/>
          <p:cNvSpPr>
            <a:spLocks noGrp="1"/>
          </p:cNvSpPr>
          <p:nvPr>
            <p:ph type="ftr" idx="59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8"/>
          <p:cNvSpPr>
            <a:spLocks noGrp="1"/>
          </p:cNvSpPr>
          <p:nvPr>
            <p:ph type="sldNum" idx="60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51E49EA-F851-4EEA-9C47-C70F4E5338E6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dt" idx="6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ftr" idx="6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sldNum" idx="63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47946E3-9F92-42E4-A0EC-FAAF29B939A2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dt" idx="64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ftr" idx="65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66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4A9F553-257F-4B03-9EAE-5323E0D6F41B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480" cy="159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400" cy="487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480" cy="380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dt" idx="67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ftr" idx="68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PlaceHolder 6"/>
          <p:cNvSpPr>
            <a:spLocks noGrp="1"/>
          </p:cNvSpPr>
          <p:nvPr>
            <p:ph type="sldNum" idx="69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EF124E6-549E-448E-8883-A04996387F32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33CA905C-7E01-44B2-9EDF-FA51DA0B9D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ftr" idx="7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sldNum" idx="7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4BA0105-9BF4-4AC9-8C7E-B7F09D8455A9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dt" idx="7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2.png"/><Relationship Id="rId8" Type="http://schemas.openxmlformats.org/officeDocument/2006/relationships/image" Target="../media/image3.svg"/><Relationship Id="rId9" Type="http://schemas.openxmlformats.org/officeDocument/2006/relationships/image" Target="../media/image2.png"/><Relationship Id="rId10" Type="http://schemas.openxmlformats.org/officeDocument/2006/relationships/image" Target="../media/image3.svg"/><Relationship Id="rId11" Type="http://schemas.openxmlformats.org/officeDocument/2006/relationships/image" Target="../media/image2.png"/><Relationship Id="rId12" Type="http://schemas.openxmlformats.org/officeDocument/2006/relationships/image" Target="../media/image3.svg"/><Relationship Id="rId13" Type="http://schemas.openxmlformats.org/officeDocument/2006/relationships/image" Target="../media/image2.png"/><Relationship Id="rId14" Type="http://schemas.openxmlformats.org/officeDocument/2006/relationships/image" Target="../media/image3.svg"/><Relationship Id="rId15" Type="http://schemas.openxmlformats.org/officeDocument/2006/relationships/diagramData" Target="../diagrams/data1.xml"/><Relationship Id="rId16" Type="http://schemas.openxmlformats.org/officeDocument/2006/relationships/diagramLayout" Target="../diagrams/layout1.xml"/><Relationship Id="rId17" Type="http://schemas.openxmlformats.org/officeDocument/2006/relationships/diagramQuickStyle" Target="../diagrams/quickStyle1.xml"/><Relationship Id="rId18" Type="http://schemas.openxmlformats.org/officeDocument/2006/relationships/diagramColors" Target="../diagrams/colors1.xml"/><Relationship Id="rId19" Type="http://schemas.openxmlformats.org/officeDocument/2006/relationships/image" Target="../media/image1.png"/><Relationship Id="rId20" Type="http://schemas.openxmlformats.org/officeDocument/2006/relationships/slideLayout" Target="../slideLayouts/slideLayout2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15"/>
          <p:cNvSpPr/>
          <p:nvPr/>
        </p:nvSpPr>
        <p:spPr>
          <a:xfrm>
            <a:off x="2995560" y="2868120"/>
            <a:ext cx="6198840" cy="490680"/>
          </a:xfrm>
          <a:prstGeom prst="rect">
            <a:avLst/>
          </a:prstGeom>
          <a:noFill/>
          <a:ln w="0">
            <a:noFill/>
          </a:ln>
          <a:effectLst>
            <a:glow rad="139680">
              <a:srgbClr val="FF6A1C">
                <a:alpha val="40000"/>
              </a:srgbClr>
            </a:glo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endParaRPr lang="en-IN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IN" sz="2000" b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Date&amp; Time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8" name="Table 17"/>
          <p:cNvGraphicFramePr/>
          <p:nvPr/>
        </p:nvGraphicFramePr>
        <p:xfrm>
          <a:off x="8193240" y="4898520"/>
          <a:ext cx="3701520" cy="800640"/>
        </p:xfrm>
        <a:graphic>
          <a:graphicData uri="http://schemas.openxmlformats.org/drawingml/2006/table">
            <a:tbl>
              <a:tblPr/>
              <a:tblGrid>
                <a:gridCol w="3701880"/>
              </a:tblGrid>
              <a:tr h="752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Aft>
                          <a:spcPts val="99"/>
                        </a:spcAft>
                        <a:tabLst>
                          <a:tab pos="0" algn="l"/>
                        </a:tabLst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Team Members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spcAft>
                          <a:spcPts val="99"/>
                        </a:spcAft>
                        <a:tabLst>
                          <a:tab pos="0" algn="l"/>
                        </a:tabLst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UTKARSH PANKAJ - 2420090138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spcAft>
                          <a:spcPts val="99"/>
                        </a:spcAft>
                        <a:tabLst>
                          <a:tab pos="0" algn="l"/>
                        </a:tabLst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SURA DHANUSH - 2420090083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spcAft>
                          <a:spcPts val="99"/>
                        </a:spcAft>
                        <a:tabLst>
                          <a:tab pos="0" algn="l"/>
                        </a:tabLst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RITHISH RAO - 2420030778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39" name="Group 20"/>
          <p:cNvGrpSpPr/>
          <p:nvPr/>
        </p:nvGrpSpPr>
        <p:grpSpPr>
          <a:xfrm>
            <a:off x="7982640" y="4742280"/>
            <a:ext cx="305640" cy="278280"/>
            <a:chOff x="7982640" y="4742280"/>
            <a:chExt cx="305640" cy="278280"/>
          </a:xfrm>
        </p:grpSpPr>
        <p:sp>
          <p:nvSpPr>
            <p:cNvPr id="140" name="Isosceles Triangle 21"/>
            <p:cNvSpPr/>
            <p:nvPr/>
          </p:nvSpPr>
          <p:spPr>
            <a:xfrm rot="8295000">
              <a:off x="8039160" y="4765680"/>
              <a:ext cx="159120" cy="231120"/>
            </a:xfrm>
            <a:prstGeom prst="triangle">
              <a:avLst>
                <a:gd name="adj" fmla="val 50000"/>
              </a:avLst>
            </a:prstGeom>
            <a:solidFill>
              <a:srgbClr val="FF66FF"/>
            </a:solidFill>
            <a:ln>
              <a:solidFill>
                <a:srgbClr val="092A3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79560" tIns="45000" rIns="79560" bIns="45000" anchor="ctr">
              <a:noAutofit/>
            </a:bodyPr>
            <a:p>
              <a:endParaRPr lang="en-IN" sz="1800" b="0" u="none" strike="noStrike">
                <a:solidFill>
                  <a:schemeClr val="lt1"/>
                </a:solidFill>
                <a:effectLst/>
                <a:highlight>
                  <a:srgbClr val="FFFF00"/>
                </a:highlight>
                <a:uFillTx/>
                <a:latin typeface="Aptos"/>
              </a:endParaRPr>
            </a:p>
          </p:txBody>
        </p:sp>
        <p:sp>
          <p:nvSpPr>
            <p:cNvPr id="141" name="Isosceles Triangle 22"/>
            <p:cNvSpPr/>
            <p:nvPr/>
          </p:nvSpPr>
          <p:spPr>
            <a:xfrm rot="11852400">
              <a:off x="8155440" y="4793040"/>
              <a:ext cx="112320" cy="151560"/>
            </a:xfrm>
            <a:prstGeom prst="triangle">
              <a:avLst>
                <a:gd name="adj" fmla="val 50000"/>
              </a:avLst>
            </a:prstGeom>
            <a:solidFill>
              <a:srgbClr val="FF66FF"/>
            </a:solidFill>
            <a:ln>
              <a:solidFill>
                <a:srgbClr val="092A3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56160" tIns="31680" rIns="56160" bIns="31680" anchor="ctr">
              <a:noAutofit/>
            </a:bodyPr>
            <a:p>
              <a:endParaRPr lang="en-IN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graphicFrame>
        <p:nvGraphicFramePr>
          <p:cNvPr id="142" name="Table 29"/>
          <p:cNvGraphicFramePr/>
          <p:nvPr/>
        </p:nvGraphicFramePr>
        <p:xfrm>
          <a:off x="-795960" y="4773960"/>
          <a:ext cx="5901480" cy="3440160"/>
        </p:xfrm>
        <a:graphic>
          <a:graphicData uri="http://schemas.openxmlformats.org/drawingml/2006/table">
            <a:tbl>
              <a:tblPr/>
              <a:tblGrid>
                <a:gridCol w="1373400"/>
                <a:gridCol w="4528440"/>
              </a:tblGrid>
              <a:tr h="1332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Aft>
                          <a:spcPts val="99"/>
                        </a:spcAft>
                      </a:pP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99"/>
                        </a:spcAft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Under the Guidance of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99"/>
                        </a:spcAft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Dr. Venkateshwari Ketineni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99"/>
                        </a:spcAft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Assistant Professor,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99"/>
                        </a:spcAft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Department of Computer Science and Engineering,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99"/>
                        </a:spcAft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KLH CSE Bowrampet Campus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lang="en-IN" sz="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600" b="1" u="none" strike="noStrike">
                          <a:solidFill>
                            <a:srgbClr val="C00000"/>
                          </a:solidFill>
                          <a:effectLst/>
                          <a:uFillTx/>
                          <a:latin typeface="Times New Roman"/>
                        </a:rPr>
                        <a:t>Under the Guidance of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spcBef>
                          <a:spcPts val="201"/>
                        </a:spcBef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Dr.Venkateshwari Ketineni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spcBef>
                          <a:spcPts val="201"/>
                        </a:spcBef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Assistant Professor, 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spcBef>
                          <a:spcPts val="201"/>
                        </a:spcBef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Department of </a:t>
                      </a: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Computer Science and Engineering, 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spcBef>
                          <a:spcPts val="201"/>
                        </a:spcBef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KLH CSE Bowrampet Campus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332000"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43" name="Group 30"/>
          <p:cNvGrpSpPr/>
          <p:nvPr/>
        </p:nvGrpSpPr>
        <p:grpSpPr>
          <a:xfrm>
            <a:off x="387000" y="4539240"/>
            <a:ext cx="305280" cy="278280"/>
            <a:chOff x="387000" y="4539240"/>
            <a:chExt cx="305280" cy="278280"/>
          </a:xfrm>
        </p:grpSpPr>
        <p:sp>
          <p:nvSpPr>
            <p:cNvPr id="144" name="Isosceles Triangle 31"/>
            <p:cNvSpPr/>
            <p:nvPr/>
          </p:nvSpPr>
          <p:spPr>
            <a:xfrm rot="8295000">
              <a:off x="443520" y="4562640"/>
              <a:ext cx="159120" cy="23112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solidFill>
                <a:srgbClr val="092A3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79560" tIns="45000" rIns="79560" bIns="45000" anchor="ctr">
              <a:noAutofit/>
            </a:bodyPr>
            <a:p>
              <a:endParaRPr lang="en-IN" sz="1800" b="0" u="none" strike="noStrike">
                <a:solidFill>
                  <a:schemeClr val="lt1"/>
                </a:solidFill>
                <a:effectLst/>
                <a:highlight>
                  <a:srgbClr val="FFFF00"/>
                </a:highlight>
                <a:uFillTx/>
                <a:latin typeface="Aptos"/>
              </a:endParaRPr>
            </a:p>
          </p:txBody>
        </p:sp>
        <p:sp>
          <p:nvSpPr>
            <p:cNvPr id="145" name="Isosceles Triangle 32"/>
            <p:cNvSpPr/>
            <p:nvPr/>
          </p:nvSpPr>
          <p:spPr>
            <a:xfrm rot="11852400">
              <a:off x="559440" y="4590000"/>
              <a:ext cx="112320" cy="15156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solidFill>
                <a:srgbClr val="092A3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56160" tIns="31680" rIns="56160" bIns="31680" anchor="ctr">
              <a:noAutofit/>
            </a:bodyPr>
            <a:p>
              <a:endParaRPr lang="en-IN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sp>
        <p:nvSpPr>
          <p:cNvPr id="146" name="PlaceHolder 1"/>
          <p:cNvSpPr>
            <a:spLocks noGrp="1"/>
          </p:cNvSpPr>
          <p:nvPr>
            <p:ph type="dt" idx="76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spcAft>
                <a:spcPts val="300"/>
              </a:spcAft>
              <a:buNone/>
              <a:tabLst>
                <a:tab pos="0" algn="l"/>
              </a:tabLst>
              <a:defRPr lang="en-US" sz="1200" b="1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spcAft>
                <a:spcPts val="300"/>
              </a:spcAft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Date: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ftr" idx="77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spcAft>
                <a:spcPts val="300"/>
              </a:spcAft>
              <a:buNone/>
              <a:tabLst>
                <a:tab pos="0" algn="l"/>
              </a:tabLst>
              <a:defRPr lang="en-IN" sz="1200" b="1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spcAft>
                <a:spcPts val="300"/>
              </a:spcAft>
              <a:buNone/>
              <a:tabLst>
                <a:tab pos="0" algn="l"/>
              </a:tabLst>
            </a:pPr>
            <a:r>
              <a:rPr lang="en-IN" sz="1200" b="1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SOA Project Review-2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Rectangle: Rounded Corners 3"/>
          <p:cNvSpPr/>
          <p:nvPr/>
        </p:nvSpPr>
        <p:spPr>
          <a:xfrm>
            <a:off x="638280" y="769320"/>
            <a:ext cx="10913760" cy="983880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9" name="Picture 6"/>
          <p:cNvPicPr/>
          <p:nvPr/>
        </p:nvPicPr>
        <p:blipFill>
          <a:blip r:embed="rId1"/>
          <a:stretch/>
        </p:blipFill>
        <p:spPr>
          <a:xfrm>
            <a:off x="10249560" y="0"/>
            <a:ext cx="1940760" cy="62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TextBox 13"/>
          <p:cNvSpPr/>
          <p:nvPr/>
        </p:nvSpPr>
        <p:spPr>
          <a:xfrm>
            <a:off x="738360" y="810720"/>
            <a:ext cx="107139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</a:pPr>
            <a:r>
              <a:rPr lang="en-IN" sz="1900" b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SECURE DEVICE REGISTRATION &amp; INTELLIGENT ACCESS CONTROL SYSTEM</a:t>
            </a:r>
            <a:endParaRPr lang="en-IN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16"/>
          <p:cNvSpPr/>
          <p:nvPr/>
        </p:nvSpPr>
        <p:spPr>
          <a:xfrm>
            <a:off x="738360" y="2246760"/>
            <a:ext cx="1071396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</a:pPr>
            <a:r>
              <a:rPr lang="en-IN" sz="1800" b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SOA Project Review-2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F4301F4-1C21-4A26-B561-74AA1CD6D461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dt" idx="78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ftr" idx="79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IN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80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922BA84-DE5C-424C-AEBE-F86263F103DA}" type="slidenum">
              <a:rPr lang="en-IN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TextBox 8"/>
          <p:cNvSpPr/>
          <p:nvPr/>
        </p:nvSpPr>
        <p:spPr>
          <a:xfrm>
            <a:off x="3020760" y="173520"/>
            <a:ext cx="5852520" cy="64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Outline of Project Work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6" name="Group 7"/>
          <p:cNvGrpSpPr/>
          <p:nvPr/>
        </p:nvGrpSpPr>
        <p:grpSpPr>
          <a:xfrm>
            <a:off x="2001240" y="1378080"/>
            <a:ext cx="6782760" cy="4437360"/>
            <a:chOff x="2001240" y="1378080"/>
            <a:chExt cx="6782760" cy="4437360"/>
          </a:xfrm>
        </p:grpSpPr>
        <p:sp>
          <p:nvSpPr>
            <p:cNvPr id="157" name="TextBox 15"/>
            <p:cNvSpPr/>
            <p:nvPr/>
          </p:nvSpPr>
          <p:spPr>
            <a:xfrm>
              <a:off x="2747160" y="2978640"/>
              <a:ext cx="4265640" cy="95868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marL="430200" indent="-343080" defTabSz="457200">
                <a:lnSpc>
                  <a:spcPct val="150000"/>
                </a:lnSpc>
                <a:spcAft>
                  <a:spcPts val="300"/>
                </a:spcAft>
                <a:buClr>
                  <a:srgbClr val="FFFFFF"/>
                </a:buClr>
                <a:buFont typeface="Arial"/>
                <a:buChar char="•"/>
                <a:tabLst>
                  <a:tab pos="444600" algn="l"/>
                </a:tabLst>
              </a:pPr>
              <a:r>
                <a:rPr lang="en-IN" sz="115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Project Overview &amp; Review 2 Focus</a:t>
              </a:r>
              <a:endParaRPr lang="en-IN" sz="11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TextBox 17"/>
            <p:cNvSpPr/>
            <p:nvPr/>
          </p:nvSpPr>
          <p:spPr>
            <a:xfrm>
              <a:off x="2994480" y="3474720"/>
              <a:ext cx="4372920" cy="87192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marL="430200" indent="-343080" defTabSz="457200">
                <a:lnSpc>
                  <a:spcPct val="150000"/>
                </a:lnSpc>
                <a:spcAft>
                  <a:spcPts val="300"/>
                </a:spcAft>
                <a:buClr>
                  <a:srgbClr val="FFFFFF"/>
                </a:buClr>
                <a:buFont typeface="Arial"/>
                <a:buChar char="•"/>
                <a:tabLst>
                  <a:tab pos="444600" algn="l"/>
                </a:tabLst>
              </a:pPr>
              <a:r>
                <a:rPr lang="en-IN" sz="115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System Architecture &amp; SOA Services</a:t>
              </a:r>
              <a:endParaRPr lang="en-IN" sz="11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TextBox 19"/>
            <p:cNvSpPr/>
            <p:nvPr/>
          </p:nvSpPr>
          <p:spPr>
            <a:xfrm>
              <a:off x="3211560" y="4054320"/>
              <a:ext cx="4527720" cy="936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marL="430200" indent="-343080" defTabSz="457200">
                <a:lnSpc>
                  <a:spcPct val="150000"/>
                </a:lnSpc>
                <a:spcBef>
                  <a:spcPts val="505"/>
                </a:spcBef>
                <a:spcAft>
                  <a:spcPts val="300"/>
                </a:spcAft>
                <a:buClr>
                  <a:srgbClr val="FFFFFF"/>
                </a:buClr>
                <a:buFont typeface="Arial"/>
                <a:buChar char="•"/>
                <a:tabLst>
                  <a:tab pos="444600" algn="l"/>
                </a:tabLst>
              </a:pPr>
              <a:r>
                <a:rPr lang="en-IN" sz="115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Methodology &amp; Access-Decision Flow</a:t>
              </a:r>
              <a:endParaRPr lang="en-IN" sz="11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TextBox 21"/>
            <p:cNvSpPr/>
            <p:nvPr/>
          </p:nvSpPr>
          <p:spPr>
            <a:xfrm>
              <a:off x="3497760" y="4601520"/>
              <a:ext cx="4772880" cy="918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marL="430200" indent="-343080" defTabSz="457200">
                <a:lnSpc>
                  <a:spcPct val="150000"/>
                </a:lnSpc>
                <a:spcBef>
                  <a:spcPts val="505"/>
                </a:spcBef>
                <a:spcAft>
                  <a:spcPts val="300"/>
                </a:spcAft>
                <a:buClr>
                  <a:srgbClr val="FFFFFF"/>
                </a:buClr>
                <a:buFont typeface="Arial"/>
                <a:buChar char="•"/>
                <a:tabLst>
                  <a:tab pos="444600" algn="l"/>
                </a:tabLst>
              </a:pPr>
              <a:r>
                <a:rPr lang="en-IN" sz="115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Device Registration &amp; Fingerprinting</a:t>
              </a:r>
              <a:endParaRPr lang="en-IN" sz="11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TextBox 23"/>
            <p:cNvSpPr/>
            <p:nvPr/>
          </p:nvSpPr>
          <p:spPr>
            <a:xfrm>
              <a:off x="3894120" y="5204520"/>
              <a:ext cx="4889880" cy="61092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marL="430200" indent="-343080" defTabSz="457200">
                <a:lnSpc>
                  <a:spcPct val="150000"/>
                </a:lnSpc>
                <a:spcBef>
                  <a:spcPts val="505"/>
                </a:spcBef>
                <a:spcAft>
                  <a:spcPts val="300"/>
                </a:spcAft>
                <a:buClr>
                  <a:srgbClr val="FFFFFF"/>
                </a:buClr>
                <a:buFont typeface="Arial"/>
                <a:buChar char="•"/>
                <a:tabLst>
                  <a:tab pos="444600" algn="l"/>
                </a:tabLst>
              </a:pPr>
              <a:r>
                <a:rPr lang="en-IN" sz="115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Dynamic Risk Scoring</a:t>
              </a:r>
              <a:endParaRPr lang="en-IN" sz="11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62" name="Graphic 6"/>
            <p:cNvPicPr/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/>
          </p:blipFill>
          <p:spPr>
            <a:xfrm flipH="1" rot="21415800">
              <a:off x="8301240" y="4723920"/>
              <a:ext cx="453960" cy="5346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63" name="Content Placeholder 11"/>
            <p:cNvSpPr/>
            <p:nvPr/>
          </p:nvSpPr>
          <p:spPr>
            <a:xfrm>
              <a:off x="2001240" y="1378080"/>
              <a:ext cx="3546360" cy="7473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tIns="45000" rIns="90000" bIns="45000" anchor="t">
              <a:normAutofit/>
            </a:bodyPr>
            <a:p>
              <a:pPr marL="430200" indent="-343080" defTabSz="914400">
                <a:lnSpc>
                  <a:spcPct val="150000"/>
                </a:lnSpc>
                <a:spcAft>
                  <a:spcPts val="300"/>
                </a:spcAft>
                <a:buClr>
                  <a:srgbClr val="FFFFFF"/>
                </a:buClr>
                <a:buFont typeface="Arial"/>
                <a:buChar char="•"/>
                <a:tabLst>
                  <a:tab pos="444600" algn="l"/>
                </a:tabLst>
              </a:pPr>
              <a:r>
                <a:rPr lang="en-IN" sz="115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SOA &amp; Microservices Implementation</a:t>
              </a:r>
              <a:endParaRPr lang="en-IN" sz="11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" name="Content Placeholder 11"/>
            <p:cNvSpPr/>
            <p:nvPr/>
          </p:nvSpPr>
          <p:spPr>
            <a:xfrm>
              <a:off x="2281680" y="1939320"/>
              <a:ext cx="3884400" cy="6645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tIns="45000" rIns="90000" bIns="45000" anchor="t">
              <a:normAutofit/>
            </a:bodyPr>
            <a:p>
              <a:pPr marL="430200" indent="-343080" defTabSz="914400">
                <a:lnSpc>
                  <a:spcPct val="150000"/>
                </a:lnSpc>
                <a:spcAft>
                  <a:spcPts val="300"/>
                </a:spcAft>
                <a:buClr>
                  <a:srgbClr val="FFFFFF"/>
                </a:buClr>
                <a:buFont typeface="Arial"/>
                <a:buChar char="•"/>
                <a:tabLst>
                  <a:tab pos="444600" algn="l"/>
                </a:tabLst>
              </a:pPr>
              <a:r>
                <a:rPr lang="en-IN" sz="115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API Communication &amp; Data Flow</a:t>
              </a:r>
              <a:endParaRPr lang="en-IN" sz="11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65" name="Graphic 35"/>
            <p:cNvPicPr/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/>
          </p:blipFill>
          <p:spPr>
            <a:xfrm flipH="1" rot="21415800">
              <a:off x="7755480" y="4080240"/>
              <a:ext cx="453960" cy="534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6" name="Graphic 36"/>
            <p:cNvPicPr/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/>
          </p:blipFill>
          <p:spPr>
            <a:xfrm flipH="1" rot="21415800">
              <a:off x="7301880" y="3534840"/>
              <a:ext cx="453960" cy="534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7" name="Graphic 37"/>
            <p:cNvPicPr/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/>
          </p:blipFill>
          <p:spPr>
            <a:xfrm flipH="1" rot="21415800">
              <a:off x="6935400" y="2921760"/>
              <a:ext cx="453960" cy="534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8" name="Graphic 38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 flipH="1" rot="21415800">
              <a:off x="6514920" y="2488320"/>
              <a:ext cx="453960" cy="534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9" name="Graphic 39"/>
            <p:cNvPicPr/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/>
          </p:blipFill>
          <p:spPr>
            <a:xfrm flipH="1" rot="21415800">
              <a:off x="6112080" y="1973880"/>
              <a:ext cx="453960" cy="534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0" name="Graphic 40"/>
            <p:cNvPicPr/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/>
          </p:blipFill>
          <p:spPr>
            <a:xfrm flipH="1" rot="21415800">
              <a:off x="5698080" y="1442520"/>
              <a:ext cx="453960" cy="5346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1" name="TextBox 13"/>
            <p:cNvSpPr/>
            <p:nvPr/>
          </p:nvSpPr>
          <p:spPr>
            <a:xfrm>
              <a:off x="2562120" y="2494800"/>
              <a:ext cx="4002480" cy="50508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marL="430200" indent="-343080" defTabSz="457200">
                <a:lnSpc>
                  <a:spcPct val="150000"/>
                </a:lnSpc>
                <a:spcAft>
                  <a:spcPts val="300"/>
                </a:spcAft>
                <a:buClr>
                  <a:srgbClr val="FFFFFF"/>
                </a:buClr>
                <a:buFont typeface="Arial"/>
                <a:buChar char="•"/>
                <a:tabLst>
                  <a:tab pos="444600" algn="l"/>
                </a:tabLst>
              </a:pPr>
              <a:r>
                <a:rPr lang="en-IN" sz="115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Implementation &amp; Testing Evidence</a:t>
              </a:r>
              <a:endParaRPr lang="en-IN" sz="11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172" name="Diagram1"/>
          <p:cNvGraphicFramePr/>
          <p:nvPr>
            <p:extLst>
              <p:ext uri="{D42A27DB-BD31-4B8C-83A1-F6EECF244321}">
                <p14:modId xmlns:p14="http://schemas.microsoft.com/office/powerpoint/2010/main" val="739117587"/>
              </p:ext>
            </p:extLst>
          </p:nvPr>
        </p:nvGraphicFramePr>
        <p:xfrm>
          <a:off x="41400" y="115560"/>
          <a:ext cx="1472760" cy="9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pic>
        <p:nvPicPr>
          <p:cNvPr id="173" name="Picture 9"/>
          <p:cNvPicPr/>
          <p:nvPr/>
        </p:nvPicPr>
        <p:blipFill>
          <a:blip r:embed="rId19"/>
          <a:stretch/>
        </p:blipFill>
        <p:spPr>
          <a:xfrm>
            <a:off x="10249560" y="0"/>
            <a:ext cx="1899360" cy="620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Box 4"/>
          <p:cNvSpPr/>
          <p:nvPr/>
        </p:nvSpPr>
        <p:spPr>
          <a:xfrm>
            <a:off x="3992040" y="482400"/>
            <a:ext cx="6094080" cy="64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Problem Statement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5" name="Picture 2"/>
          <p:cNvPicPr/>
          <p:nvPr/>
        </p:nvPicPr>
        <p:blipFill>
          <a:blip r:embed="rId1"/>
          <a:stretch/>
        </p:blipFill>
        <p:spPr>
          <a:xfrm>
            <a:off x="10249560" y="0"/>
            <a:ext cx="1940760" cy="62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"/>
          <p:cNvSpPr/>
          <p:nvPr/>
        </p:nvSpPr>
        <p:spPr>
          <a:xfrm>
            <a:off x="1440000" y="1800000"/>
            <a:ext cx="9358560" cy="39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35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Modern networks face uncontrolled device onboarding and static access policies that fail against dynamic cyber threats.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35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Traditional access-control systems may authenticate users without sufficiently evaluating whether the requesting device is: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35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Unknown or unregistered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35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Compromised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35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Suspicious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35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Exhibiting abnormal behavior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35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Existing systems lack adaptive intelligence, real-time device trust evaluation, contextual risk assessment, and automated policy enforcement.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35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Proposed solution: an SOA-based system combining Device Registration + Fingerprinting + Risk Scoring + Authentication + Policy Enforcement.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Box 4"/>
          <p:cNvSpPr/>
          <p:nvPr/>
        </p:nvSpPr>
        <p:spPr>
          <a:xfrm>
            <a:off x="3048120" y="469080"/>
            <a:ext cx="6094080" cy="64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Objectives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Picture 2"/>
          <p:cNvPicPr/>
          <p:nvPr/>
        </p:nvPicPr>
        <p:blipFill>
          <a:blip r:embed="rId1"/>
          <a:stretch/>
        </p:blipFill>
        <p:spPr>
          <a:xfrm>
            <a:off x="10249560" y="0"/>
            <a:ext cx="1940760" cy="62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"/>
          <p:cNvSpPr/>
          <p:nvPr/>
        </p:nvSpPr>
        <p:spPr>
          <a:xfrm>
            <a:off x="1980000" y="1555560"/>
            <a:ext cx="8098560" cy="39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300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en-IN" sz="135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Implement secure device registration and management.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35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Generate and verify unique device fingerprints.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35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Bind registered devices securely to user identities.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35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Develop a dynamic risk-scoring mechanism.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35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Detect suspicious and anomalous device behavior.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35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Implement Allow / Challenge / Rate-Limit / Block decisions.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35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Maintain centralized audit logs and security events.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35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Provide real-time security monitoring through Grafana.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35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Implement independent microservices communicating through APIs.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" name="Content Placeholder 3"/>
          <p:cNvGraphicFramePr/>
          <p:nvPr/>
        </p:nvGraphicFramePr>
        <p:xfrm>
          <a:off x="50400" y="630360"/>
          <a:ext cx="11642040" cy="5109480"/>
        </p:xfrm>
        <a:graphic>
          <a:graphicData uri="http://schemas.openxmlformats.org/drawingml/2006/table">
            <a:tbl>
              <a:tblPr/>
              <a:tblGrid>
                <a:gridCol w="1089000"/>
                <a:gridCol w="2275200"/>
                <a:gridCol w="2476080"/>
                <a:gridCol w="2936520"/>
                <a:gridCol w="2865600"/>
              </a:tblGrid>
              <a:tr h="3877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Aft>
                          <a:spcPts val="99"/>
                        </a:spcAft>
                      </a:pPr>
                      <a:r>
                        <a:rPr lang="en-IN" sz="82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Authors / Area</a:t>
                      </a:r>
                      <a:endParaRPr lang="en-IN" sz="8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Aft>
                          <a:spcPts val="99"/>
                        </a:spcAft>
                        <a:tabLst>
                          <a:tab pos="0" algn="l"/>
                        </a:tabLst>
                      </a:pPr>
                      <a:r>
                        <a:rPr lang="en-IN" sz="82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Title / Approach</a:t>
                      </a:r>
                      <a:endParaRPr lang="en-IN" sz="8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Aft>
                          <a:spcPts val="99"/>
                        </a:spcAft>
                      </a:pPr>
                      <a:r>
                        <a:rPr lang="en-IN" sz="82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Methodology</a:t>
                      </a:r>
                      <a:endParaRPr lang="en-IN" sz="8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Aft>
                          <a:spcPts val="99"/>
                        </a:spcAft>
                      </a:pPr>
                      <a:r>
                        <a:rPr lang="en-IN" sz="82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Key Inference</a:t>
                      </a:r>
                      <a:endParaRPr lang="en-IN" sz="8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Aft>
                          <a:spcPts val="99"/>
                        </a:spcAft>
                      </a:pPr>
                      <a:r>
                        <a:rPr lang="en-IN" sz="82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Limitation / Future Work</a:t>
                      </a:r>
                      <a:endParaRPr lang="en-IN" sz="8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2013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Aft>
                          <a:spcPts val="99"/>
                        </a:spcAft>
                      </a:pPr>
                      <a:r>
                        <a:rPr lang="en-IN" sz="72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Device Fingerprinting</a:t>
                      </a:r>
                      <a:endParaRPr lang="en-IN" sz="7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156082">
                        <a:alpha val="20000"/>
                      </a:srgb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Aft>
                          <a:spcPts val="99"/>
                        </a:spcAft>
                      </a:pPr>
                      <a:r>
                        <a:rPr lang="en-IN" sz="72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Device identity &amp; risk-based access</a:t>
                      </a:r>
                      <a:endParaRPr lang="en-IN" sz="7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156082">
                        <a:alpha val="20000"/>
                      </a:srgb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16000" indent="-216000" algn="just" defTabSz="914400">
                        <a:lnSpc>
                          <a:spcPct val="100000"/>
                        </a:lnSpc>
                        <a:spcAft>
                          <a:spcPts val="99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72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Hardware and behavioral attributes identify devices and assess trust.</a:t>
                      </a:r>
                      <a:endParaRPr lang="en-IN" sz="7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156082">
                        <a:alpha val="20000"/>
                      </a:srgb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16000" indent="-216000" algn="just" defTabSz="914400">
                        <a:lnSpc>
                          <a:spcPct val="100000"/>
                        </a:lnSpc>
                        <a:spcAft>
                          <a:spcPts val="99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72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Fingerprinting strengthens device identity and trust evaluation.</a:t>
                      </a:r>
                      <a:endParaRPr lang="en-IN" sz="7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156082">
                        <a:alpha val="20000"/>
                      </a:srgb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16000" indent="-216000" defTabSz="914400">
                        <a:lnSpc>
                          <a:spcPct val="100000"/>
                        </a:lnSpc>
                        <a:spcAft>
                          <a:spcPts val="99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IN" sz="72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Stable fingerprint attributes can be difficult to maintain.</a:t>
                      </a:r>
                      <a:endParaRPr lang="en-IN" sz="7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156082">
                        <a:alpha val="20000"/>
                      </a:srgbClr>
                    </a:solidFill>
                  </a:tcPr>
                </a:tc>
              </a:tr>
              <a:tr h="135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Aft>
                          <a:spcPts val="99"/>
                        </a:spcAft>
                      </a:pPr>
                      <a:r>
                        <a:rPr lang="en-IN" sz="72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Rose et al. / NIST</a:t>
                      </a:r>
                      <a:endParaRPr lang="en-IN" sz="7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Aft>
                          <a:spcPts val="99"/>
                        </a:spcAft>
                      </a:pPr>
                      <a:r>
                        <a:rPr lang="en-IN" sz="72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Zero Trust Architecture</a:t>
                      </a:r>
                      <a:endParaRPr lang="en-IN" sz="7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Aft>
                          <a:spcPts val="99"/>
                        </a:spcAft>
                      </a:pPr>
                      <a:r>
                        <a:rPr lang="en-IN" sz="72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Continuously verifies users and devices instead of automatically trusting them.</a:t>
                      </a:r>
                      <a:endParaRPr lang="en-IN" sz="7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Aft>
                          <a:spcPts val="99"/>
                        </a:spcAft>
                      </a:pPr>
                      <a:r>
                        <a:rPr lang="en-IN" sz="72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Users and devices should not be trusted automatically.</a:t>
                      </a:r>
                      <a:endParaRPr lang="en-IN" sz="7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Aft>
                          <a:spcPts val="99"/>
                        </a:spcAft>
                      </a:pPr>
                      <a:r>
                        <a:rPr lang="en-IN" sz="72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Large-scale implementation can become complex.</a:t>
                      </a:r>
                      <a:endParaRPr lang="en-IN" sz="7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</a:tr>
              <a:tr h="135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Aft>
                          <a:spcPts val="99"/>
                        </a:spcAft>
                      </a:pPr>
                      <a:r>
                        <a:rPr lang="en-IN" sz="72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Dynamic Risk / IoT Fingerprinting</a:t>
                      </a:r>
                      <a:endParaRPr lang="en-IN" sz="7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156082">
                        <a:alpha val="20000"/>
                      </a:srgb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Aft>
                          <a:spcPts val="99"/>
                        </a:spcAft>
                      </a:pPr>
                      <a:r>
                        <a:rPr lang="en-IN" sz="72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Context-aware device access</a:t>
                      </a:r>
                      <a:endParaRPr lang="en-IN" sz="7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156082">
                        <a:alpha val="20000"/>
                      </a:srgb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Aft>
                          <a:spcPts val="99"/>
                        </a:spcAft>
                      </a:pPr>
                      <a:r>
                        <a:rPr lang="en-IN" sz="72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Dynamic risk levels and multiple fingerprinting approaches support device-aware decisions.</a:t>
                      </a:r>
                      <a:endParaRPr lang="en-IN" sz="7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156082">
                        <a:alpha val="20000"/>
                      </a:srgb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Aft>
                          <a:spcPts val="99"/>
                        </a:spcAft>
                      </a:pPr>
                      <a:r>
                        <a:rPr lang="en-IN" sz="72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Context improves access decisions and fingerprinting supports device identification.</a:t>
                      </a:r>
                      <a:endParaRPr lang="en-IN" sz="7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156082">
                        <a:alpha val="20000"/>
                      </a:srgb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Aft>
                          <a:spcPts val="99"/>
                        </a:spcAft>
                      </a:pPr>
                      <a:r>
                        <a:rPr lang="en-IN" sz="72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Risk design, scalability and practical deployment remain challenges.</a:t>
                      </a:r>
                      <a:endParaRPr lang="en-IN" sz="7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rgbClr val="156082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81" name="TextBox 3"/>
          <p:cNvSpPr/>
          <p:nvPr/>
        </p:nvSpPr>
        <p:spPr>
          <a:xfrm>
            <a:off x="4560480" y="136440"/>
            <a:ext cx="3070080" cy="5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</a:pPr>
            <a:r>
              <a:rPr lang="en-IN" sz="1800" b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Literature Survey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1"/>
          <p:cNvSpPr>
            <a:spLocks noGrp="1"/>
          </p:cNvSpPr>
          <p:nvPr>
            <p:ph type="dt" idx="8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ftr" idx="8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4" name="Picture 4"/>
          <p:cNvPicPr/>
          <p:nvPr/>
        </p:nvPicPr>
        <p:blipFill>
          <a:blip r:embed="rId1"/>
          <a:stretch/>
        </p:blipFill>
        <p:spPr>
          <a:xfrm>
            <a:off x="10249560" y="0"/>
            <a:ext cx="1941840" cy="62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CF4E65CE-46B3-49D9-BE23-4F60281D58EA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Box 2"/>
          <p:cNvSpPr/>
          <p:nvPr/>
        </p:nvSpPr>
        <p:spPr>
          <a:xfrm>
            <a:off x="3048120" y="600120"/>
            <a:ext cx="6094080" cy="11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Problem Gap Identification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6" name="Picture 7"/>
          <p:cNvPicPr/>
          <p:nvPr/>
        </p:nvPicPr>
        <p:blipFill>
          <a:blip r:embed="rId1"/>
          <a:stretch/>
        </p:blipFill>
        <p:spPr>
          <a:xfrm>
            <a:off x="10249560" y="0"/>
            <a:ext cx="1940760" cy="62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"/>
          <p:cNvSpPr/>
          <p:nvPr/>
        </p:nvSpPr>
        <p:spPr>
          <a:xfrm>
            <a:off x="1080000" y="1980000"/>
            <a:ext cx="10438560" cy="24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2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Gap 1 — Device + User Context</a:t>
            </a:r>
            <a:endParaRPr lang="en-IN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2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Traditional authentication focuses mainly on the user, while device-aware systems may focus mainly on the device.</a:t>
            </a:r>
            <a:endParaRPr lang="en-IN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lang="en-IN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2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Gap 2 — Static vs Dynamic Decisions</a:t>
            </a:r>
            <a:endParaRPr lang="en-IN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2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Many systems use predefined permissions instead of continuously evaluating contextual risk.</a:t>
            </a:r>
            <a:endParaRPr lang="en-IN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lang="en-IN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2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Gap 3 — Limited Integration</a:t>
            </a:r>
            <a:endParaRPr lang="en-IN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2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Fingerprinting, authentication, risk evaluation and suspicious-activity detection are not always integrated into one pipeline.</a:t>
            </a:r>
            <a:endParaRPr lang="en-IN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lang="en-IN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2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Gap 4 — Centralized Monitoring</a:t>
            </a:r>
            <a:endParaRPr lang="en-IN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2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Security events from different components may not be available through a unified administrative dashboard.</a:t>
            </a:r>
            <a:endParaRPr lang="en-IN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lang="en-IN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2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Our Approach: Integrate device trust + user identity + behavioral risk + resource sensitivity into a unified access decision.</a:t>
            </a:r>
            <a:endParaRPr lang="en-IN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Box 1"/>
          <p:cNvSpPr/>
          <p:nvPr/>
        </p:nvSpPr>
        <p:spPr>
          <a:xfrm>
            <a:off x="1893240" y="567360"/>
            <a:ext cx="840420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Innovation, Creativity, and Novelty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9" name="Picture 5"/>
          <p:cNvPicPr/>
          <p:nvPr/>
        </p:nvPicPr>
        <p:blipFill>
          <a:blip r:embed="rId1"/>
          <a:stretch/>
        </p:blipFill>
        <p:spPr>
          <a:xfrm>
            <a:off x="10249560" y="0"/>
            <a:ext cx="1940760" cy="62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900000" y="1620000"/>
            <a:ext cx="10438560" cy="40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2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Innovation</a:t>
            </a:r>
            <a:endParaRPr lang="en-IN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2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Combines device fingerprinting, authentication and dynamic risk scoring.</a:t>
            </a:r>
            <a:endParaRPr lang="en-IN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2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Integrates anomaly detection with real-time security monitoring.</a:t>
            </a:r>
            <a:endParaRPr lang="en-IN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2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Uses SOA/microservices for modular implementation.</a:t>
            </a:r>
            <a:endParaRPr lang="en-IN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lang="en-IN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2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Creativity</a:t>
            </a:r>
            <a:endParaRPr lang="en-IN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2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Uses device, network, time, role, location and behavioral context.</a:t>
            </a:r>
            <a:endParaRPr lang="en-IN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2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Dynamically evaluates the trust level of every access request.</a:t>
            </a:r>
            <a:endParaRPr lang="en-IN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2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Provides centralized monitoring of devices, risks, alerts and access events.</a:t>
            </a:r>
            <a:endParaRPr lang="en-IN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lang="en-IN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2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Novelty</a:t>
            </a:r>
            <a:endParaRPr lang="en-IN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2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Integrated device-aware and risk-adaptive access-control framework.</a:t>
            </a:r>
            <a:endParaRPr lang="en-IN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2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Four risk tiers: Low (0–25), Moderate (26–50), High (51–75), Critical (76–100).</a:t>
            </a:r>
            <a:endParaRPr lang="en-IN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2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ML-based anomaly detection supplements rule-based scoring.</a:t>
            </a:r>
            <a:endParaRPr lang="en-IN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Box 6"/>
          <p:cNvSpPr/>
          <p:nvPr/>
        </p:nvSpPr>
        <p:spPr>
          <a:xfrm>
            <a:off x="2615400" y="551160"/>
            <a:ext cx="72320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Feasibility and Project Plan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7"/>
          <p:cNvSpPr/>
          <p:nvPr/>
        </p:nvSpPr>
        <p:spPr>
          <a:xfrm>
            <a:off x="1381320" y="1743840"/>
            <a:ext cx="107215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3" name="Picture 3"/>
          <p:cNvPicPr/>
          <p:nvPr/>
        </p:nvPicPr>
        <p:blipFill>
          <a:blip r:embed="rId1"/>
          <a:stretch/>
        </p:blipFill>
        <p:spPr>
          <a:xfrm>
            <a:off x="10249560" y="0"/>
            <a:ext cx="1940760" cy="62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"/>
          <p:cNvSpPr/>
          <p:nvPr/>
        </p:nvSpPr>
        <p:spPr>
          <a:xfrm>
            <a:off x="1260000" y="1620000"/>
            <a:ext cx="8638560" cy="26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1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Implemented Modules</a:t>
            </a: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1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Device registration pipeline: fingerprint capture → hash generation → registry storage</a:t>
            </a: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1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Dynamic risk scoring engine</a:t>
            </a: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1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nftables-based access enforcement</a:t>
            </a: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1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API Gateway and SOA microservices</a:t>
            </a: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1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PostgreSQL audit logging</a:t>
            </a: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1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Testing Evidence</a:t>
            </a: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1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Fingerprint extraction and hash consistency verified across 10 device profiles</a:t>
            </a: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1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End-to-end registration flow validated</a:t>
            </a: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1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Risk scores generated from 0–100</a:t>
            </a: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1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ALLOW/BLOCK decisions logged with timestamps and device details</a:t>
            </a: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1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Future Work</a:t>
            </a: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1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Improve ML accuracy with larger datasets</a:t>
            </a: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1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Automate re-registration on IP changes</a:t>
            </a: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1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Federated learning and cross-platform support</a:t>
            </a: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IN" sz="113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• Formal security audit</a:t>
            </a: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</TotalTime>
  <Application>LibreOffice/26.2.5.2$Linux_X86_64 LibreOffice_project/620$Build-2</Application>
  <AppVersion>15.0000</AppVersion>
  <Words>204</Words>
  <Paragraphs>61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2026-08-08T06:33:56Z</dcterms:created>
  <dc:creator>srikanth ch</dc:creator>
  <dc:description/>
  <dc:language>en-IN</dc:language>
  <cp:lastModifiedBy/>
  <dcterms:modified xsi:type="dcterms:W3CDTF">2026-10-08T09:15:26Z</dcterms:modified>
  <cp:revision>38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Widescreen</vt:lpwstr>
  </property>
  <property fmtid="{D5CDD505-2E9C-101B-9397-08002B2CF9AE}" pid="4" name="Slides">
    <vt:i4>8</vt:i4>
  </property>
</Properties>
</file>